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80000" cy="64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" y="28800"/>
            <a:ext cx="979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Pipeline de Inferencia de Elección Modal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00000" y="295200"/>
            <a:ext cx="4680000" cy="511200"/>
          </a:xfrm>
          <a:prstGeom prst="roundRect">
            <a:avLst>
              <a:gd name="adj" fmla="val 16000"/>
            </a:avLst>
          </a:prstGeom>
          <a:solidFill>
            <a:srgbClr val="EDFAFB"/>
          </a:solidFill>
          <a:ln w="317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POST   /api/lpmc/predict   |   /compare</a:t>
            </a:r>
          </a:p>
          <a:p>
            <a:pPr algn="ctr"/>
            <a:r>
              <a:rPr sz="950" b="0">
                <a:solidFill>
                  <a:srgbClr val="444444"/>
                </a:solidFill>
                <a:latin typeface="Calibri"/>
              </a:rPr>
              <a:t>origen  ·  destino  ·  perfil sociodemográfico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0000" y="806399"/>
            <a:ext cx="0" cy="18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107000" y="1065599"/>
            <a:ext cx="7866000" cy="763200"/>
          </a:xfrm>
          <a:prstGeom prst="rect">
            <a:avLst/>
          </a:prstGeom>
          <a:noFill/>
          <a:ln w="19050">
            <a:solidFill>
              <a:srgbClr val="FF8F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0" y="943199"/>
            <a:ext cx="36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1">
                <a:solidFill>
                  <a:srgbClr val="FF8F00"/>
                </a:solidFill>
                <a:latin typeface="Calibri"/>
              </a:rPr>
              <a:t>asyncio.gather  —  concurrente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6200" y="1144800"/>
            <a:ext cx="1800000" cy="604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OSRM car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:5000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5400" y="1144800"/>
            <a:ext cx="1800000" cy="604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OSRM bike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:5001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4600" y="1144800"/>
            <a:ext cx="1800000" cy="604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OSRM foot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:5002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3799" y="1144800"/>
            <a:ext cx="1800000" cy="6048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OTP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Calibri"/>
              </a:rPr>
              <a:t>:8080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40000" y="806399"/>
            <a:ext cx="0" cy="18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86200" y="993599"/>
            <a:ext cx="590759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86200" y="9935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55400" y="9935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24600" y="9935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93799" y="9935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86200" y="1749599"/>
            <a:ext cx="0" cy="1440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55400" y="1749599"/>
            <a:ext cx="0" cy="1440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24600" y="1749599"/>
            <a:ext cx="0" cy="1440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93799" y="1749599"/>
            <a:ext cx="0" cy="1440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86200" y="1893600"/>
            <a:ext cx="590759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40000" y="1893600"/>
            <a:ext cx="0" cy="136800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00000" y="2030400"/>
            <a:ext cx="4680000" cy="511200"/>
          </a:xfrm>
          <a:prstGeom prst="roundRect">
            <a:avLst>
              <a:gd name="adj" fmla="val 16000"/>
            </a:avLst>
          </a:prstGeom>
          <a:solidFill>
            <a:srgbClr val="F3F4F5"/>
          </a:solidFill>
          <a:ln w="317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build_route_features</a:t>
            </a:r>
          </a:p>
          <a:p>
            <a:pPr algn="ctr"/>
            <a:r>
              <a:rPr sz="950" b="0">
                <a:solidFill>
                  <a:srgbClr val="444444"/>
                </a:solidFill>
                <a:latin typeface="Calibri"/>
              </a:rPr>
              <a:t>duración (s) → horas  ·  legs OTP → dur_pt_*  ·  transbordos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0000" y="2541600"/>
            <a:ext cx="0" cy="223200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00000" y="2764800"/>
            <a:ext cx="4680000" cy="511200"/>
          </a:xfrm>
          <a:prstGeom prst="roundRect">
            <a:avLst>
              <a:gd name="adj" fmla="val 16000"/>
            </a:avLst>
          </a:prstGeom>
          <a:solidFill>
            <a:srgbClr val="F3F4F5"/>
          </a:solidFill>
          <a:ln w="317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build_feature_frame</a:t>
            </a:r>
          </a:p>
          <a:p>
            <a:pPr algn="ctr"/>
            <a:r>
              <a:rPr sz="950" b="0">
                <a:solidFill>
                  <a:srgbClr val="444444"/>
                </a:solidFill>
                <a:latin typeface="Calibri"/>
              </a:rPr>
              <a:t>+ variables sociodemográficas  ·  one-hot purpose / fueltype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40000" y="3276000"/>
            <a:ext cx="0" cy="223199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00000" y="3499199"/>
            <a:ext cx="4680000" cy="511200"/>
          </a:xfrm>
          <a:prstGeom prst="roundRect">
            <a:avLst>
              <a:gd name="adj" fmla="val 16000"/>
            </a:avLst>
          </a:prstGeom>
          <a:solidFill>
            <a:srgbClr val="F0F5F0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StandardScaler.transform</a:t>
            </a:r>
          </a:p>
          <a:p>
            <a:pPr algn="ctr"/>
            <a:r>
              <a:rPr sz="950" b="0">
                <a:solidFill>
                  <a:srgbClr val="444444"/>
                </a:solidFill>
                <a:latin typeface="Calibri"/>
              </a:rPr>
              <a:t>columnas continuas  ·  μ y σ ajustados sobre el conjunto train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40000" y="4010399"/>
            <a:ext cx="0" cy="180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584000" y="4341600"/>
            <a:ext cx="2088000" cy="612000"/>
          </a:xfrm>
          <a:prstGeom prst="roundRect">
            <a:avLst>
              <a:gd name="adj" fmla="val 16000"/>
            </a:avLst>
          </a:prstGeom>
          <a:solidFill>
            <a:srgbClr val="EEF4FA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XGBoost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96000" y="4341600"/>
            <a:ext cx="2088000" cy="612000"/>
          </a:xfrm>
          <a:prstGeom prst="roundRect">
            <a:avLst>
              <a:gd name="adj" fmla="val 16000"/>
            </a:avLst>
          </a:prstGeom>
          <a:solidFill>
            <a:srgbClr val="F1F8F2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Random Forest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8000" y="4341600"/>
            <a:ext cx="2088000" cy="612000"/>
          </a:xfrm>
          <a:prstGeom prst="roundRect">
            <a:avLst>
              <a:gd name="adj" fmla="val 16000"/>
            </a:avLst>
          </a:prstGeom>
          <a:solidFill>
            <a:srgbClr val="FDF1F0"/>
          </a:solidFill>
          <a:ln w="317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DNN  —  PyTorch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0000" y="4010399"/>
            <a:ext cx="0" cy="180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28000" y="4190399"/>
            <a:ext cx="4824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28000" y="41903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40000" y="41903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2000" y="4190399"/>
            <a:ext cx="0" cy="1512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628000" y="4953599"/>
            <a:ext cx="0" cy="151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040000" y="4953599"/>
            <a:ext cx="0" cy="151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52000" y="4953599"/>
            <a:ext cx="0" cy="151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28000" y="5104799"/>
            <a:ext cx="4824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40000" y="5104799"/>
            <a:ext cx="0" cy="136801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700000" y="5241600"/>
            <a:ext cx="4680000" cy="511200"/>
          </a:xfrm>
          <a:prstGeom prst="roundRect">
            <a:avLst>
              <a:gd name="adj" fmla="val 16000"/>
            </a:avLst>
          </a:prstGeom>
          <a:solidFill>
            <a:srgbClr val="EDFAFB"/>
          </a:solidFill>
          <a:ln w="317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28800" bIns="28800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Respuesta JSON</a:t>
            </a:r>
          </a:p>
          <a:p>
            <a:pPr algn="ctr"/>
            <a:r>
              <a:rPr sz="950" b="0">
                <a:solidFill>
                  <a:srgbClr val="444444"/>
                </a:solidFill>
                <a:latin typeface="Calibri"/>
              </a:rPr>
              <a:t>predicted_mode  ·  confidence  ·  probabilities [walk, cycle, pt, drive]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