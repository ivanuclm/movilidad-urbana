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7" r:id="rId5"/>
    <p:sldId id="258" r:id="rId6"/>
    <p:sldId id="259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212121"/>
    <a:srgbClr val="013174"/>
    <a:srgbClr val="3188C9"/>
    <a:srgbClr val="F9A825"/>
    <a:srgbClr val="D50950"/>
    <a:srgbClr val="88BFCC"/>
    <a:srgbClr val="1565C0"/>
    <a:srgbClr val="D00000"/>
    <a:srgbClr val="8DD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96EC5-4B3B-4994-9125-168835D51C51}" v="620" dt="2026-04-22T00:15:34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svg"/><Relationship Id="rId19" Type="http://schemas.openxmlformats.org/officeDocument/2006/relationships/image" Target="../media/image28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sv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9" Type="http://schemas.openxmlformats.org/officeDocument/2006/relationships/image" Target="../media/image69.jpeg"/><Relationship Id="rId21" Type="http://schemas.openxmlformats.org/officeDocument/2006/relationships/image" Target="../media/image54.png"/><Relationship Id="rId34" Type="http://schemas.openxmlformats.org/officeDocument/2006/relationships/image" Target="../media/image65.sv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17" Type="http://schemas.openxmlformats.org/officeDocument/2006/relationships/image" Target="../media/image50.png"/><Relationship Id="rId25" Type="http://schemas.openxmlformats.org/officeDocument/2006/relationships/image" Target="../media/image58.svg"/><Relationship Id="rId33" Type="http://schemas.openxmlformats.org/officeDocument/2006/relationships/image" Target="../media/image64.svg"/><Relationship Id="rId38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9.svg"/><Relationship Id="rId20" Type="http://schemas.openxmlformats.org/officeDocument/2006/relationships/image" Target="../media/image53.png"/><Relationship Id="rId29" Type="http://schemas.openxmlformats.org/officeDocument/2006/relationships/image" Target="../media/image6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svg"/><Relationship Id="rId32" Type="http://schemas.openxmlformats.org/officeDocument/2006/relationships/image" Target="../media/image63.svg"/><Relationship Id="rId37" Type="http://schemas.openxmlformats.org/officeDocument/2006/relationships/image" Target="../media/image67.png"/><Relationship Id="rId5" Type="http://schemas.openxmlformats.org/officeDocument/2006/relationships/image" Target="../media/image38.png"/><Relationship Id="rId15" Type="http://schemas.openxmlformats.org/officeDocument/2006/relationships/image" Target="../media/image48.svg"/><Relationship Id="rId23" Type="http://schemas.openxmlformats.org/officeDocument/2006/relationships/image" Target="../media/image56.svg"/><Relationship Id="rId28" Type="http://schemas.openxmlformats.org/officeDocument/2006/relationships/image" Target="../media/image61.svg"/><Relationship Id="rId36" Type="http://schemas.openxmlformats.org/officeDocument/2006/relationships/image" Target="../media/image66.sv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33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svg"/><Relationship Id="rId30" Type="http://schemas.openxmlformats.org/officeDocument/2006/relationships/image" Target="../media/image32.png"/><Relationship Id="rId35" Type="http://schemas.openxmlformats.org/officeDocument/2006/relationships/image" Target="../media/image29.png"/><Relationship Id="rId8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6902" y="88009"/>
            <a:ext cx="789639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19" b="1">
                <a:solidFill>
                  <a:srgbClr val="777777"/>
                </a:solidFill>
                <a:latin typeface="Calibri"/>
              </a:rPr>
              <a:t>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981" y="88009"/>
            <a:ext cx="809645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19" b="1">
                <a:solidFill>
                  <a:srgbClr val="777777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82301" y="88009"/>
            <a:ext cx="860812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19" b="1">
                <a:solidFill>
                  <a:srgbClr val="777777"/>
                </a:solidFill>
                <a:latin typeface="Calibri"/>
              </a:rPr>
              <a:t>SERVICIOS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082" y="2697231"/>
            <a:ext cx="1853279" cy="1219263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90" b="1">
                <a:solidFill>
                  <a:srgbClr val="000000"/>
                </a:solidFill>
                <a:latin typeface="Calibri"/>
              </a:rPr>
              <a:t>Navegador web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React + Leaflet + TypeScript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36066" y="405017"/>
            <a:ext cx="3511476" cy="6047543"/>
          </a:xfrm>
          <a:prstGeom prst="rect">
            <a:avLst/>
          </a:prstGeom>
          <a:solidFill>
            <a:srgbClr val="E0E8F0"/>
          </a:solidFill>
          <a:ln w="228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1084"/>
              </a:spcBef>
            </a:pPr>
            <a:r>
              <a:rPr sz="1761" b="1">
                <a:solidFill>
                  <a:srgbClr val="000000"/>
                </a:solidFill>
                <a:latin typeface="Calibri"/>
              </a:rPr>
              <a:t>FastAPI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Puerto 8000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5533" y="1234116"/>
            <a:ext cx="3072542" cy="755943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>
                <a:solidFill>
                  <a:srgbClr val="000000"/>
                </a:solidFill>
                <a:latin typeface="Calibri"/>
              </a:rPr>
              <a:t>/api/osrm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5533" y="2355837"/>
            <a:ext cx="3072542" cy="755943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>
                <a:solidFill>
                  <a:srgbClr val="000000"/>
                </a:solidFill>
                <a:latin typeface="Calibri"/>
              </a:rPr>
              <a:t>/api/otp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5533" y="3477559"/>
            <a:ext cx="3072542" cy="755943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>
                <a:solidFill>
                  <a:srgbClr val="000000"/>
                </a:solidFill>
                <a:latin typeface="Calibri"/>
              </a:rPr>
              <a:t>/api/gtfs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5533" y="4599279"/>
            <a:ext cx="3072542" cy="755943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>
                <a:solidFill>
                  <a:srgbClr val="000000"/>
                </a:solidFill>
                <a:latin typeface="Calibri"/>
              </a:rPr>
              <a:t>/api/lpmc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27870" y="405017"/>
            <a:ext cx="5169674" cy="951025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000000"/>
                </a:solidFill>
                <a:latin typeface="Calibri"/>
              </a:rPr>
              <a:t>OSRM — Coche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Puerto 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27870" y="1624280"/>
            <a:ext cx="5169674" cy="951025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000000"/>
                </a:solidFill>
                <a:latin typeface="Calibri"/>
              </a:rPr>
              <a:t>OSRM — Bici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Puerto 5001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7870" y="2843543"/>
            <a:ext cx="5169674" cy="951025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000000"/>
                </a:solidFill>
                <a:latin typeface="Calibri"/>
              </a:rPr>
              <a:t>OSRM — A pie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Puerto 5002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7870" y="4062805"/>
            <a:ext cx="5169674" cy="951025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000000"/>
                </a:solidFill>
                <a:latin typeface="Calibri"/>
              </a:rPr>
              <a:t>OpenTripPlanner 2.x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Puerto 8080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7870" y="5282068"/>
            <a:ext cx="5169674" cy="951025"/>
          </a:xfrm>
          <a:prstGeom prst="rect">
            <a:avLst/>
          </a:prstGeom>
          <a:solidFill>
            <a:srgbClr val="FFF8E8"/>
          </a:solidFill>
          <a:ln w="19050">
            <a:solidFill>
              <a:srgbClr val="5555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000000"/>
                </a:solidFill>
                <a:latin typeface="Calibri"/>
              </a:rPr>
              <a:t>Modelo XGBoost</a:t>
            </a:r>
          </a:p>
          <a:p>
            <a:pPr algn="ctr"/>
            <a:r>
              <a:rPr sz="1219">
                <a:solidFill>
                  <a:srgbClr val="000000"/>
                </a:solidFill>
                <a:latin typeface="Calibri"/>
              </a:rPr>
              <a:t>in-process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8361" y="3306862"/>
            <a:ext cx="487705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89699" y="3053256"/>
            <a:ext cx="805029" cy="2591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84">
                <a:solidFill>
                  <a:srgbClr val="777777"/>
                </a:solidFill>
                <a:latin typeface="Calibri"/>
              </a:rPr>
              <a:t>HTTP/REST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47542" y="880530"/>
            <a:ext cx="780328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06713" y="675694"/>
            <a:ext cx="461985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>
                <a:solidFill>
                  <a:srgbClr val="777777"/>
                </a:solidFill>
                <a:latin typeface="Calibri"/>
              </a:rPr>
              <a:t>HTTP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47542" y="2099791"/>
            <a:ext cx="780328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47542" y="3319055"/>
            <a:ext cx="780328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47542" y="4538318"/>
            <a:ext cx="780328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47542" y="5757580"/>
            <a:ext cx="780328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76870" y="5552744"/>
            <a:ext cx="721672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 i="1">
                <a:solidFill>
                  <a:srgbClr val="885522"/>
                </a:solidFill>
                <a:latin typeface="Calibri"/>
              </a:rPr>
              <a:t>in-process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12" y="161165"/>
            <a:ext cx="1121720" cy="6535248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3" name="Rectangle 2"/>
          <p:cNvSpPr/>
          <p:nvPr/>
        </p:nvSpPr>
        <p:spPr>
          <a:xfrm>
            <a:off x="146312" y="161165"/>
            <a:ext cx="1121720" cy="414549"/>
          </a:xfrm>
          <a:prstGeom prst="rect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 dirty="0">
                <a:ln>
                  <a:solidFill>
                    <a:srgbClr val="777777"/>
                  </a:solidFill>
                </a:ln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9426" y="161165"/>
            <a:ext cx="2292214" cy="6535248"/>
          </a:xfrm>
          <a:prstGeom prst="rect">
            <a:avLst/>
          </a:prstGeom>
          <a:solidFill>
            <a:srgbClr val="D9E8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5" name="Rectangle 4"/>
          <p:cNvSpPr/>
          <p:nvPr/>
        </p:nvSpPr>
        <p:spPr>
          <a:xfrm>
            <a:off x="1609426" y="161165"/>
            <a:ext cx="2292214" cy="414549"/>
          </a:xfrm>
          <a:prstGeom prst="rect">
            <a:avLst/>
          </a:prstGeom>
          <a:solidFill>
            <a:srgbClr val="2060A0"/>
          </a:solidFill>
          <a:ln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243033" y="161165"/>
            <a:ext cx="3511476" cy="6535248"/>
          </a:xfrm>
          <a:prstGeom prst="rect">
            <a:avLst/>
          </a:prstGeom>
          <a:solidFill>
            <a:srgbClr val="CEE8D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7" name="Rectangle 6"/>
          <p:cNvSpPr/>
          <p:nvPr/>
        </p:nvSpPr>
        <p:spPr>
          <a:xfrm>
            <a:off x="4243033" y="161165"/>
            <a:ext cx="3511476" cy="414549"/>
          </a:xfrm>
          <a:prstGeom prst="rect">
            <a:avLst/>
          </a:prstGeom>
          <a:solidFill>
            <a:srgbClr val="1E7A4A"/>
          </a:solidFill>
          <a:ln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5904" y="161165"/>
            <a:ext cx="3950411" cy="6535248"/>
          </a:xfrm>
          <a:prstGeom prst="rect">
            <a:avLst/>
          </a:prstGeom>
          <a:solidFill>
            <a:srgbClr val="FDEDD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9" name="Rectangle 8"/>
          <p:cNvSpPr/>
          <p:nvPr/>
        </p:nvSpPr>
        <p:spPr>
          <a:xfrm>
            <a:off x="8095904" y="161165"/>
            <a:ext cx="3950411" cy="414549"/>
          </a:xfrm>
          <a:prstGeom prst="rect">
            <a:avLst/>
          </a:prstGeom>
          <a:solidFill>
            <a:srgbClr val="A86018"/>
          </a:solidFill>
          <a:ln>
            <a:solidFill>
              <a:srgbClr val="A86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FFFFFF"/>
                </a:solidFill>
                <a:latin typeface="Calibri"/>
              </a:rPr>
              <a:t>SERVICIOS EXTERNOS</a:t>
            </a:r>
          </a:p>
        </p:txBody>
      </p:sp>
      <p:sp>
        <p:nvSpPr>
          <p:cNvPr id="10" name="Oval 9"/>
          <p:cNvSpPr/>
          <p:nvPr/>
        </p:nvSpPr>
        <p:spPr>
          <a:xfrm>
            <a:off x="453566" y="1185346"/>
            <a:ext cx="507213" cy="507213"/>
          </a:xfrm>
          <a:prstGeom prst="ellipse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38"/>
          </a:p>
        </p:txBody>
      </p:sp>
      <p:sp>
        <p:nvSpPr>
          <p:cNvPr id="11" name="Rectangle 10"/>
          <p:cNvSpPr/>
          <p:nvPr/>
        </p:nvSpPr>
        <p:spPr>
          <a:xfrm>
            <a:off x="424303" y="1516985"/>
            <a:ext cx="565738" cy="707172"/>
          </a:xfrm>
          <a:prstGeom prst="rect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12" name="TextBox 11"/>
          <p:cNvSpPr txBox="1"/>
          <p:nvPr/>
        </p:nvSpPr>
        <p:spPr>
          <a:xfrm>
            <a:off x="334313" y="2307067"/>
            <a:ext cx="745717" cy="3008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5" b="1">
                <a:solidFill>
                  <a:srgbClr val="777777"/>
                </a:solidFill>
                <a:latin typeface="Calibri"/>
              </a:rPr>
              <a:t>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204" y="2575305"/>
            <a:ext cx="1075936" cy="2591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Navegador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0123" y="746411"/>
            <a:ext cx="1950820" cy="2828689"/>
          </a:xfrm>
          <a:prstGeom prst="rect">
            <a:avLst/>
          </a:prstGeom>
          <a:solidFill>
            <a:srgbClr val="F2F7FF"/>
          </a:solidFill>
          <a:ln w="15240"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58" b="1">
                <a:solidFill>
                  <a:srgbClr val="222222"/>
                </a:solidFill>
                <a:latin typeface="Calibri"/>
              </a:rPr>
              <a:t>Navegador web</a:t>
            </a:r>
          </a:p>
          <a:p>
            <a:pPr algn="ctr"/>
            <a:r>
              <a:rPr sz="1219">
                <a:solidFill>
                  <a:srgbClr val="555555"/>
                </a:solidFill>
                <a:latin typeface="Calibri"/>
              </a:rPr>
              <a:t>React + TypeScript</a:t>
            </a:r>
          </a:p>
          <a:p>
            <a:pPr algn="ctr"/>
            <a:r>
              <a:rPr sz="1219">
                <a:solidFill>
                  <a:srgbClr val="555555"/>
                </a:solidFill>
                <a:latin typeface="Calibri"/>
              </a:rPr>
              <a:t>Leaflet (mapas)</a:t>
            </a:r>
          </a:p>
          <a:p>
            <a:pPr algn="ctr"/>
            <a:r>
              <a:rPr sz="1151">
                <a:solidFill>
                  <a:srgbClr val="888888"/>
                </a:solidFill>
                <a:latin typeface="Calibri"/>
              </a:rPr>
              <a:t>Vite  ·  Puerto 5173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737" y="3697027"/>
            <a:ext cx="1491114" cy="269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1">
                <a:solidFill>
                  <a:srgbClr val="555555"/>
                </a:solidFill>
                <a:latin typeface="Calibri"/>
              </a:rPr>
              <a:t>Mapa interactivo O/D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737" y="3965265"/>
            <a:ext cx="1648208" cy="269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1">
                <a:solidFill>
                  <a:srgbClr val="555555"/>
                </a:solidFill>
                <a:latin typeface="Calibri"/>
              </a:rPr>
              <a:t>Sliders de política modal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736" y="4233503"/>
            <a:ext cx="1821332" cy="269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1" dirty="0">
                <a:solidFill>
                  <a:srgbClr val="555555"/>
                </a:solidFill>
                <a:latin typeface="Calibri"/>
              </a:rPr>
              <a:t>Panel de </a:t>
            </a:r>
            <a:r>
              <a:rPr sz="1151" dirty="0" err="1">
                <a:solidFill>
                  <a:srgbClr val="555555"/>
                </a:solidFill>
                <a:latin typeface="Calibri"/>
              </a:rPr>
              <a:t>resultados</a:t>
            </a:r>
            <a:r>
              <a:rPr sz="1151" dirty="0">
                <a:solidFill>
                  <a:srgbClr val="555555"/>
                </a:solidFill>
                <a:latin typeface="Calibri"/>
              </a:rPr>
              <a:t> what-if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737" y="4501739"/>
            <a:ext cx="1965603" cy="269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1">
                <a:solidFill>
                  <a:srgbClr val="555555"/>
                </a:solidFill>
                <a:latin typeface="Calibri"/>
              </a:rPr>
              <a:t>Reparto modal · Tiempo · CO₂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0082" y="648870"/>
            <a:ext cx="658402" cy="219467"/>
          </a:xfrm>
          <a:prstGeom prst="rect">
            <a:avLst/>
          </a:prstGeom>
          <a:solidFill>
            <a:srgbClr val="2060A0"/>
          </a:solidFill>
          <a:ln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84">
                <a:solidFill>
                  <a:srgbClr val="FFFFFF"/>
                </a:solidFill>
                <a:latin typeface="Calibri"/>
              </a:rPr>
              <a:t>  :5173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345" y="746411"/>
            <a:ext cx="3218853" cy="5657379"/>
          </a:xfrm>
          <a:prstGeom prst="rect">
            <a:avLst/>
          </a:prstGeom>
          <a:solidFill>
            <a:srgbClr val="EAF5EE"/>
          </a:solidFill>
          <a:ln w="19050"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1355"/>
              </a:spcBef>
            </a:pPr>
            <a:r>
              <a:rPr sz="1761" b="1">
                <a:solidFill>
                  <a:srgbClr val="222222"/>
                </a:solidFill>
                <a:latin typeface="Calibri"/>
              </a:rPr>
              <a:t>FastAPI</a:t>
            </a:r>
          </a:p>
          <a:p>
            <a:pPr algn="ctr"/>
            <a:r>
              <a:rPr sz="1219">
                <a:solidFill>
                  <a:srgbClr val="555555"/>
                </a:solidFill>
                <a:latin typeface="Calibri"/>
              </a:rPr>
              <a:t>Puerto 8000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8566" y="648870"/>
            <a:ext cx="682786" cy="219467"/>
          </a:xfrm>
          <a:prstGeom prst="rect">
            <a:avLst/>
          </a:prstGeom>
          <a:solidFill>
            <a:srgbClr val="1E7A4A"/>
          </a:solidFill>
          <a:ln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84">
                <a:solidFill>
                  <a:srgbClr val="FFFFFF"/>
                </a:solidFill>
                <a:latin typeface="Calibri"/>
              </a:rPr>
              <a:t>  :8000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656" y="1624280"/>
            <a:ext cx="2926230" cy="65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/api/osrm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Rutas viarias · 3 perfiles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5656" y="2428993"/>
            <a:ext cx="2926230" cy="65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/api/otp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Itinerarios multimodales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656" y="3233707"/>
            <a:ext cx="2926230" cy="65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/api/gtfs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Red de transporte estática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656" y="4038420"/>
            <a:ext cx="2926230" cy="65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/api/lpmc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Inferencia de elección modal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5656" y="4965060"/>
            <a:ext cx="2926230" cy="780328"/>
          </a:xfrm>
          <a:prstGeom prst="rect">
            <a:avLst/>
          </a:prstGeom>
          <a:solidFill>
            <a:srgbClr val="FFF8E5"/>
          </a:solidFill>
          <a:ln w="15240">
            <a:solidFill>
              <a:srgbClr val="CC88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Modelo XGBoost</a:t>
            </a:r>
          </a:p>
          <a:p>
            <a:pPr algn="ctr"/>
            <a:r>
              <a:rPr sz="1084">
                <a:solidFill>
                  <a:srgbClr val="CC8822"/>
                </a:solidFill>
                <a:latin typeface="Calibri"/>
              </a:rPr>
              <a:t>in-process · sin red</a:t>
            </a:r>
          </a:p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LPMC · 4 modos modales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0666" y="5769773"/>
            <a:ext cx="2076209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 i="1">
                <a:solidFill>
                  <a:srgbClr val="CC8822"/>
                </a:solidFill>
                <a:latin typeface="Calibri"/>
              </a:rPr>
              <a:t>▲ cargado en memoria por FastAPI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2215" y="746411"/>
            <a:ext cx="3657788" cy="2731147"/>
          </a:xfrm>
          <a:prstGeom prst="rect">
            <a:avLst/>
          </a:prstGeom>
          <a:solidFill>
            <a:srgbClr val="E6F3E6"/>
          </a:solidFill>
          <a:ln w="1016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29" name="TextBox 28"/>
          <p:cNvSpPr txBox="1"/>
          <p:nvPr/>
        </p:nvSpPr>
        <p:spPr>
          <a:xfrm>
            <a:off x="9263837" y="770796"/>
            <a:ext cx="1614545" cy="2591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84" b="1">
                <a:solidFill>
                  <a:srgbClr val="88BB88"/>
                </a:solidFill>
                <a:latin typeface="Calibri"/>
              </a:rPr>
              <a:t>OSRM — Motor de rutas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756" y="990263"/>
            <a:ext cx="3462706" cy="731558"/>
          </a:xfrm>
          <a:prstGeom prst="rect">
            <a:avLst/>
          </a:prstGeom>
          <a:solidFill>
            <a:srgbClr val="FFFFFF"/>
          </a:solidFill>
          <a:ln w="1143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222222"/>
                </a:solidFill>
                <a:latin typeface="Calibri"/>
              </a:rPr>
              <a:t>OSRM — Coche</a:t>
            </a:r>
          </a:p>
          <a:p>
            <a:pPr algn="ctr"/>
            <a:r>
              <a:rPr sz="1084">
                <a:solidFill>
                  <a:srgbClr val="888888"/>
                </a:solidFill>
                <a:latin typeface="Calibri"/>
              </a:rPr>
              <a:t>:5000  ·  driving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9756" y="1843747"/>
            <a:ext cx="3462706" cy="731558"/>
          </a:xfrm>
          <a:prstGeom prst="rect">
            <a:avLst/>
          </a:prstGeom>
          <a:solidFill>
            <a:srgbClr val="FFFFFF"/>
          </a:solidFill>
          <a:ln w="1143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222222"/>
                </a:solidFill>
                <a:latin typeface="Calibri"/>
              </a:rPr>
              <a:t>OSRM — Bicicleta</a:t>
            </a:r>
          </a:p>
          <a:p>
            <a:pPr algn="ctr"/>
            <a:r>
              <a:rPr sz="1084">
                <a:solidFill>
                  <a:srgbClr val="888888"/>
                </a:solidFill>
                <a:latin typeface="Calibri"/>
              </a:rPr>
              <a:t>:5001  ·  cycling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9756" y="2697231"/>
            <a:ext cx="3462706" cy="731558"/>
          </a:xfrm>
          <a:prstGeom prst="rect">
            <a:avLst/>
          </a:prstGeom>
          <a:solidFill>
            <a:srgbClr val="FFFFFF"/>
          </a:solidFill>
          <a:ln w="1143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222222"/>
                </a:solidFill>
                <a:latin typeface="Calibri"/>
              </a:rPr>
              <a:t>OSRM — A pie</a:t>
            </a:r>
          </a:p>
          <a:p>
            <a:pPr algn="ctr"/>
            <a:r>
              <a:rPr sz="1084">
                <a:solidFill>
                  <a:srgbClr val="888888"/>
                </a:solidFill>
                <a:latin typeface="Calibri"/>
              </a:rPr>
              <a:t>:5002  ·  walking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2215" y="3599485"/>
            <a:ext cx="3657788" cy="1024181"/>
          </a:xfrm>
          <a:prstGeom prst="rect">
            <a:avLst/>
          </a:prstGeom>
          <a:solidFill>
            <a:srgbClr val="F0F4FF"/>
          </a:solidFill>
          <a:ln w="15240">
            <a:solidFill>
              <a:srgbClr val="88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OpenTripPlanner 2.x</a:t>
            </a:r>
          </a:p>
          <a:p>
            <a:pPr algn="ctr"/>
            <a:r>
              <a:rPr sz="1151">
                <a:solidFill>
                  <a:srgbClr val="555555"/>
                </a:solidFill>
                <a:latin typeface="Calibri"/>
              </a:rPr>
              <a:t>:8080  ·  GTFS Toledo</a:t>
            </a:r>
          </a:p>
          <a:p>
            <a:pPr algn="ctr"/>
            <a:r>
              <a:rPr sz="1084">
                <a:solidFill>
                  <a:srgbClr val="888888"/>
                </a:solidFill>
                <a:latin typeface="Calibri"/>
              </a:rPr>
              <a:t>Transporte público + OSM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68032" y="2160755"/>
            <a:ext cx="341395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62049" y="1975428"/>
            <a:ext cx="553357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accede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01641" y="3453174"/>
            <a:ext cx="341392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69822" y="3238584"/>
            <a:ext cx="805029" cy="2591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84">
                <a:solidFill>
                  <a:srgbClr val="2060A0"/>
                </a:solidFill>
                <a:latin typeface="Calibri"/>
              </a:rPr>
              <a:t>HTTP/REST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54510" y="1356042"/>
            <a:ext cx="585247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54510" y="2209526"/>
            <a:ext cx="585247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54510" y="3063010"/>
            <a:ext cx="585247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828332" y="1087804"/>
            <a:ext cx="461985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54510" y="4111576"/>
            <a:ext cx="585247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828332" y="3906740"/>
            <a:ext cx="461985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11" y="161165"/>
            <a:ext cx="2828689" cy="6535248"/>
          </a:xfrm>
          <a:prstGeom prst="rect">
            <a:avLst/>
          </a:prstGeom>
          <a:solidFill>
            <a:srgbClr val="D9E8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3" name="Rectangle 2"/>
          <p:cNvSpPr/>
          <p:nvPr/>
        </p:nvSpPr>
        <p:spPr>
          <a:xfrm>
            <a:off x="146311" y="161165"/>
            <a:ext cx="2828689" cy="414549"/>
          </a:xfrm>
          <a:prstGeom prst="rect">
            <a:avLst/>
          </a:prstGeom>
          <a:solidFill>
            <a:srgbClr val="2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316394" y="161165"/>
            <a:ext cx="4145493" cy="6535248"/>
          </a:xfrm>
          <a:prstGeom prst="rect">
            <a:avLst/>
          </a:prstGeom>
          <a:solidFill>
            <a:srgbClr val="CEE8D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5" name="Rectangle 4"/>
          <p:cNvSpPr/>
          <p:nvPr/>
        </p:nvSpPr>
        <p:spPr>
          <a:xfrm>
            <a:off x="3316394" y="161165"/>
            <a:ext cx="4145493" cy="414549"/>
          </a:xfrm>
          <a:prstGeom prst="rect">
            <a:avLst/>
          </a:prstGeom>
          <a:solidFill>
            <a:srgbClr val="1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803281" y="161165"/>
            <a:ext cx="4243033" cy="6535248"/>
          </a:xfrm>
          <a:prstGeom prst="rect">
            <a:avLst/>
          </a:prstGeom>
          <a:solidFill>
            <a:srgbClr val="FDEDD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7" name="Rectangle 6"/>
          <p:cNvSpPr/>
          <p:nvPr/>
        </p:nvSpPr>
        <p:spPr>
          <a:xfrm>
            <a:off x="7803281" y="161165"/>
            <a:ext cx="4243033" cy="414549"/>
          </a:xfrm>
          <a:prstGeom prst="rect">
            <a:avLst/>
          </a:prstGeom>
          <a:solidFill>
            <a:srgbClr val="A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7" b="1">
                <a:solidFill>
                  <a:srgbClr val="FFFFFF"/>
                </a:solidFill>
                <a:latin typeface="Calibri"/>
              </a:rPr>
              <a:t>SERVICIOS EXTERNOS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23" y="697639"/>
            <a:ext cx="2536066" cy="2438525"/>
          </a:xfrm>
          <a:prstGeom prst="rect">
            <a:avLst/>
          </a:prstGeom>
          <a:solidFill>
            <a:srgbClr val="EFF6FF"/>
          </a:solidFill>
          <a:ln w="15240"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26" b="1">
                <a:solidFill>
                  <a:srgbClr val="222222"/>
                </a:solidFill>
                <a:latin typeface="Calibri"/>
              </a:rPr>
              <a:t>Navegador web</a:t>
            </a:r>
          </a:p>
          <a:p>
            <a:pPr algn="ctr"/>
            <a:r>
              <a:rPr sz="1219">
                <a:solidFill>
                  <a:srgbClr val="888888"/>
                </a:solidFill>
                <a:latin typeface="Calibri"/>
              </a:rPr>
              <a:t>Puerto 5173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0" y="2282682"/>
            <a:ext cx="302377" cy="302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8456" y="2614322"/>
            <a:ext cx="460382" cy="238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48">
                <a:solidFill>
                  <a:srgbClr val="555555"/>
                </a:solidFill>
                <a:latin typeface="Calibri"/>
              </a:rPr>
              <a:t>React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26" y="2282682"/>
            <a:ext cx="302377" cy="3023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0646" y="2614322"/>
            <a:ext cx="704039" cy="238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48">
                <a:solidFill>
                  <a:srgbClr val="555555"/>
                </a:solidFill>
                <a:latin typeface="Calibri"/>
              </a:rPr>
              <a:t>TypeScript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43" y="2282682"/>
            <a:ext cx="302377" cy="3023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56834" y="2614322"/>
            <a:ext cx="519693" cy="238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48">
                <a:solidFill>
                  <a:srgbClr val="555555"/>
                </a:solidFill>
                <a:latin typeface="Calibri"/>
              </a:rPr>
              <a:t>Leaflet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459" y="2282682"/>
            <a:ext cx="302377" cy="3023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59780" y="2614322"/>
            <a:ext cx="381835" cy="238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48">
                <a:solidFill>
                  <a:srgbClr val="555555"/>
                </a:solidFill>
                <a:latin typeface="Calibri"/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392" y="3306862"/>
            <a:ext cx="1672446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19">
                <a:solidFill>
                  <a:srgbClr val="555555"/>
                </a:solidFill>
                <a:latin typeface="Calibri"/>
              </a:rPr>
              <a:t>• Mapa interactivo O/D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393" y="3609239"/>
            <a:ext cx="1645835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19">
                <a:solidFill>
                  <a:srgbClr val="555555"/>
                </a:solidFill>
                <a:latin typeface="Calibri"/>
              </a:rPr>
              <a:t>• Sliders política modal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92" y="3911617"/>
            <a:ext cx="1475212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19">
                <a:solidFill>
                  <a:srgbClr val="555555"/>
                </a:solidFill>
                <a:latin typeface="Calibri"/>
              </a:rPr>
              <a:t>• Simulación what-if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92" y="4213994"/>
            <a:ext cx="1743554" cy="279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19">
                <a:solidFill>
                  <a:srgbClr val="555555"/>
                </a:solidFill>
                <a:latin typeface="Calibri"/>
              </a:rPr>
              <a:t>• Reparto · Tiempo · CO₂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2706" y="697639"/>
            <a:ext cx="3852870" cy="5852461"/>
          </a:xfrm>
          <a:prstGeom prst="rect">
            <a:avLst/>
          </a:prstGeom>
          <a:solidFill>
            <a:srgbClr val="E8F5EE"/>
          </a:solidFill>
          <a:ln w="19050"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1084"/>
              </a:spcBef>
            </a:pPr>
            <a:r>
              <a:rPr sz="1761" b="1">
                <a:solidFill>
                  <a:srgbClr val="222222"/>
                </a:solidFill>
                <a:latin typeface="Calibri"/>
              </a:rPr>
              <a:t>FastAPI</a:t>
            </a:r>
          </a:p>
          <a:p>
            <a:pPr algn="ctr"/>
            <a:r>
              <a:rPr sz="1219">
                <a:solidFill>
                  <a:srgbClr val="555555"/>
                </a:solidFill>
                <a:latin typeface="Calibri"/>
              </a:rPr>
              <a:t>Puerto 8000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5861" y="770795"/>
            <a:ext cx="302377" cy="30237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640" y="770795"/>
            <a:ext cx="302377" cy="30237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705945" y="658623"/>
            <a:ext cx="682786" cy="204836"/>
          </a:xfrm>
          <a:prstGeom prst="rect">
            <a:avLst/>
          </a:prstGeom>
          <a:solidFill>
            <a:srgbClr val="1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84">
                <a:solidFill>
                  <a:srgbClr val="FFFFFF"/>
                </a:solidFill>
                <a:latin typeface="Calibri"/>
              </a:rPr>
              <a:t>:8000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84632" y="1453584"/>
            <a:ext cx="3609017" cy="682786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/api/osrm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Rutas viarias · 3 perfiles (coche, bici, pie)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632" y="2282682"/>
            <a:ext cx="3609017" cy="682786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/api/otp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Itinerarios multimodales con GTFS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632" y="3111781"/>
            <a:ext cx="3609017" cy="682786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/api/gtfs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Red de transporte estática · paradas y líneas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632" y="3940880"/>
            <a:ext cx="3609017" cy="682786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/api/lpmc</a:t>
            </a:r>
          </a:p>
          <a:p>
            <a:pPr algn="ctr"/>
            <a:r>
              <a:rPr sz="1084">
                <a:solidFill>
                  <a:srgbClr val="555555"/>
                </a:solidFill>
                <a:latin typeface="Calibri"/>
              </a:rPr>
              <a:t>Inferencia de elección modal · XGBoost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84632" y="4867517"/>
            <a:ext cx="3609017" cy="804713"/>
          </a:xfrm>
          <a:prstGeom prst="rect">
            <a:avLst/>
          </a:prstGeom>
          <a:solidFill>
            <a:srgbClr val="FFF8E5"/>
          </a:solidFill>
          <a:ln w="15240">
            <a:solidFill>
              <a:srgbClr val="CC88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Modelo XGBoost</a:t>
            </a:r>
          </a:p>
          <a:p>
            <a:pPr algn="ctr"/>
            <a:r>
              <a:rPr sz="1084">
                <a:solidFill>
                  <a:srgbClr val="CC8822"/>
                </a:solidFill>
                <a:latin typeface="Calibri"/>
              </a:rPr>
              <a:t>in-process · sin latencia de red</a:t>
            </a:r>
          </a:p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LPMC dataset · 4 modos modales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3401" y="4940674"/>
            <a:ext cx="302377" cy="3023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84632" y="5696616"/>
            <a:ext cx="2076209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16" i="1">
                <a:solidFill>
                  <a:srgbClr val="CC8822"/>
                </a:solidFill>
                <a:latin typeface="Calibri"/>
              </a:rPr>
              <a:t>▲ cargado en memoria por FastAPI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9592" y="697639"/>
            <a:ext cx="3950411" cy="2857952"/>
          </a:xfrm>
          <a:prstGeom prst="rect">
            <a:avLst/>
          </a:prstGeom>
          <a:solidFill>
            <a:srgbClr val="E2F2E2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38"/>
          </a:p>
        </p:txBody>
      </p:sp>
      <p:sp>
        <p:nvSpPr>
          <p:cNvPr id="33" name="TextBox 32"/>
          <p:cNvSpPr txBox="1"/>
          <p:nvPr/>
        </p:nvSpPr>
        <p:spPr>
          <a:xfrm>
            <a:off x="8022749" y="736657"/>
            <a:ext cx="2023311" cy="2591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84" b="1">
                <a:solidFill>
                  <a:srgbClr val="70AA70"/>
                </a:solidFill>
                <a:latin typeface="Calibri"/>
              </a:rPr>
              <a:t>OSRM — Motor de rutas viarias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6888" y="951247"/>
            <a:ext cx="3735819" cy="755943"/>
          </a:xfrm>
          <a:prstGeom prst="rect">
            <a:avLst/>
          </a:prstGeom>
          <a:solidFill>
            <a:srgbClr val="FFFFFF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OSRM — Coche</a:t>
            </a:r>
          </a:p>
          <a:p>
            <a:pPr algn="ctr"/>
            <a:r>
              <a:rPr sz="1151">
                <a:solidFill>
                  <a:srgbClr val="555555"/>
                </a:solidFill>
                <a:latin typeface="Calibri"/>
              </a:rPr>
              <a:t>:5000  ·  driving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658" y="1039034"/>
            <a:ext cx="257021" cy="257021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056888" y="1843747"/>
            <a:ext cx="3735819" cy="755943"/>
          </a:xfrm>
          <a:prstGeom prst="rect">
            <a:avLst/>
          </a:prstGeom>
          <a:solidFill>
            <a:srgbClr val="FFFFFF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OSRM — Bicicleta</a:t>
            </a:r>
          </a:p>
          <a:p>
            <a:pPr algn="ctr"/>
            <a:r>
              <a:rPr sz="1151">
                <a:solidFill>
                  <a:srgbClr val="555555"/>
                </a:solidFill>
                <a:latin typeface="Calibri"/>
              </a:rPr>
              <a:t>:5001  ·  cycling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658" y="1931534"/>
            <a:ext cx="257021" cy="25702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056888" y="2736247"/>
            <a:ext cx="3735819" cy="755943"/>
          </a:xfrm>
          <a:prstGeom prst="rect">
            <a:avLst/>
          </a:prstGeom>
          <a:solidFill>
            <a:srgbClr val="FFFFFF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5" b="1">
                <a:solidFill>
                  <a:srgbClr val="222222"/>
                </a:solidFill>
                <a:latin typeface="Calibri"/>
              </a:rPr>
              <a:t>OSRM — A pie</a:t>
            </a:r>
          </a:p>
          <a:p>
            <a:pPr algn="ctr"/>
            <a:r>
              <a:rPr sz="1151">
                <a:solidFill>
                  <a:srgbClr val="555555"/>
                </a:solidFill>
                <a:latin typeface="Calibri"/>
              </a:rPr>
              <a:t>:5002  ·  walking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658" y="2824034"/>
            <a:ext cx="257021" cy="257021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949592" y="3823830"/>
            <a:ext cx="3950411" cy="1170492"/>
          </a:xfrm>
          <a:prstGeom prst="rect">
            <a:avLst/>
          </a:prstGeom>
          <a:solidFill>
            <a:srgbClr val="FEF4E5"/>
          </a:solidFill>
          <a:ln w="15240">
            <a:solidFill>
              <a:srgbClr val="DD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90" b="1">
                <a:solidFill>
                  <a:srgbClr val="222222"/>
                </a:solidFill>
                <a:latin typeface="Calibri"/>
              </a:rPr>
              <a:t>OpenTripPlanner 2.x</a:t>
            </a:r>
          </a:p>
          <a:p>
            <a:pPr algn="ctr"/>
            <a:r>
              <a:rPr sz="1219">
                <a:solidFill>
                  <a:srgbClr val="555555"/>
                </a:solidFill>
                <a:latin typeface="Calibri"/>
              </a:rPr>
              <a:t>:8080</a:t>
            </a:r>
          </a:p>
          <a:p>
            <a:pPr algn="ctr"/>
            <a:r>
              <a:rPr sz="1151">
                <a:solidFill>
                  <a:srgbClr val="555555"/>
                </a:solidFill>
                <a:latin typeface="Calibri"/>
              </a:rPr>
              <a:t>GTFS Toledo · OSM CLM</a:t>
            </a:r>
          </a:p>
          <a:p>
            <a:pPr algn="ctr"/>
            <a:r>
              <a:rPr sz="1084">
                <a:solidFill>
                  <a:srgbClr val="888888"/>
                </a:solidFill>
                <a:latin typeface="Calibri"/>
              </a:rPr>
              <a:t>Transporte público multimodal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2748" y="3921371"/>
            <a:ext cx="302377" cy="302377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2748" y="4579773"/>
            <a:ext cx="226783" cy="22678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88527" y="4613912"/>
            <a:ext cx="2223686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16" i="1">
                <a:solidFill>
                  <a:srgbClr val="888888"/>
                </a:solidFill>
                <a:latin typeface="Calibri"/>
              </a:rPr>
              <a:t>Fuente: NAP Ministerio de Transportes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975000" y="1916903"/>
            <a:ext cx="341394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54405" y="1712067"/>
            <a:ext cx="782586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 b="1">
                <a:solidFill>
                  <a:srgbClr val="2060A0"/>
                </a:solidFill>
                <a:latin typeface="Calibri"/>
              </a:rPr>
              <a:t>HTTP/REST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461887" y="1329218"/>
            <a:ext cx="438935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61887" y="2221719"/>
            <a:ext cx="438935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61887" y="3114219"/>
            <a:ext cx="438935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450362" y="1109750"/>
            <a:ext cx="461985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61887" y="4409076"/>
            <a:ext cx="438935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50362" y="4204240"/>
            <a:ext cx="461985" cy="248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6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_off"/>
          <p:cNvSpPr>
            <a:spLocks noGrp="1"/>
          </p:cNvSpPr>
          <p:nvPr/>
        </p:nvSpPr>
        <p:spPr>
          <a:xfrm>
            <a:off x="660400" y="254000"/>
            <a:ext cx="11277600" cy="2260600"/>
          </a:xfrm>
          <a:prstGeom prst="rect">
            <a:avLst/>
          </a:prstGeom>
          <a:solidFill>
            <a:srgbClr val="F5F5F5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endParaRPr lang="es-ES" dirty="0"/>
          </a:p>
        </p:txBody>
      </p:sp>
      <p:sp>
        <p:nvSpPr>
          <p:cNvPr id="11" name="zone_doc"/>
          <p:cNvSpPr>
            <a:spLocks noGrp="1"/>
          </p:cNvSpPr>
          <p:nvPr/>
        </p:nvSpPr>
        <p:spPr>
          <a:xfrm>
            <a:off x="660400" y="2667000"/>
            <a:ext cx="11277600" cy="3987800"/>
          </a:xfrm>
          <a:prstGeom prst="rect">
            <a:avLst/>
          </a:prstGeom>
          <a:solidFill>
            <a:srgbClr val="EBF5FB"/>
          </a:solidFill>
          <a:ln w="18000">
            <a:prstDash val="solid"/>
          </a:ln>
        </p:spPr>
        <p:txBody>
          <a:bodyPr wrap="square" lIns="36000" tIns="36000" rIns="36000" bIns="36000" anchor="ctr"/>
          <a:lstStyle/>
          <a:p>
            <a:endParaRPr lang="es-ES" dirty="0"/>
          </a:p>
        </p:txBody>
      </p:sp>
      <p:sp>
        <p:nvSpPr>
          <p:cNvPr id="12" name="lbl_off"/>
          <p:cNvSpPr>
            <a:spLocks noGrp="1"/>
          </p:cNvSpPr>
          <p:nvPr/>
        </p:nvSpPr>
        <p:spPr>
          <a:xfrm>
            <a:off x="736600" y="3048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ctr"/>
          <a:lstStyle/>
          <a:p>
            <a:pPr algn="l">
              <a:spcBef>
                <a:spcPts val="60"/>
              </a:spcBef>
            </a:pPr>
            <a:r>
              <a:rPr lang="es-ES" sz="820" b="1" dirty="0">
                <a:solidFill>
                  <a:srgbClr val="444444"/>
                </a:solidFill>
              </a:rPr>
              <a:t>Datos y preprocesado (offline)</a:t>
            </a:r>
          </a:p>
        </p:txBody>
      </p:sp>
      <p:sp>
        <p:nvSpPr>
          <p:cNvPr id="13" name="lbl_doc"/>
          <p:cNvSpPr>
            <a:spLocks noGrp="1"/>
          </p:cNvSpPr>
          <p:nvPr/>
        </p:nvSpPr>
        <p:spPr>
          <a:xfrm>
            <a:off x="736600" y="2743200"/>
            <a:ext cx="304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ctr"/>
          <a:lstStyle/>
          <a:p>
            <a:pPr algn="l">
              <a:spcBef>
                <a:spcPts val="60"/>
              </a:spcBef>
            </a:pPr>
            <a:r>
              <a:rPr lang="es-ES" sz="820" b="1" dirty="0">
                <a:solidFill>
                  <a:srgbClr val="2496ED"/>
                </a:solidFill>
              </a:rPr>
              <a:t>Docker Compose</a:t>
            </a:r>
          </a:p>
        </p:txBody>
      </p:sp>
      <p:sp>
        <p:nvSpPr>
          <p:cNvPr id="20" name="src_geo"/>
          <p:cNvSpPr>
            <a:spLocks noGrp="1"/>
          </p:cNvSpPr>
          <p:nvPr/>
        </p:nvSpPr>
        <p:spPr>
          <a:xfrm>
            <a:off x="812800" y="584200"/>
            <a:ext cx="1651000" cy="457200"/>
          </a:xfrm>
          <a:prstGeom prst="rect">
            <a:avLst/>
          </a:prstGeom>
          <a:solidFill>
            <a:srgbClr val="FFFFFF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2C5F2E"/>
                </a:solidFill>
              </a:rPr>
              <a:t>Geofabrik OSM</a:t>
            </a:r>
          </a:p>
          <a:p>
            <a:pPr algn="ctr">
              <a:spcBef>
                <a:spcPts val="60"/>
              </a:spcBef>
            </a:pPr>
            <a:r>
              <a:rPr lang="es-ES" sz="680" dirty="0">
                <a:solidFill>
                  <a:srgbClr val="555555"/>
                </a:solidFill>
              </a:rPr>
              <a:t>OSM C-LM (.osm.pbf)</a:t>
            </a:r>
          </a:p>
        </p:txBody>
      </p:sp>
      <p:sp>
        <p:nvSpPr>
          <p:cNvPr id="21" name="proc_osrm"/>
          <p:cNvSpPr>
            <a:spLocks noGrp="1"/>
          </p:cNvSpPr>
          <p:nvPr/>
        </p:nvSpPr>
        <p:spPr>
          <a:xfrm>
            <a:off x="812800" y="1168400"/>
            <a:ext cx="1651000" cy="254000"/>
          </a:xfrm>
          <a:prstGeom prst="rect">
            <a:avLst/>
          </a:prstGeom>
          <a:solidFill>
            <a:srgbClr val="E8F4FD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680" dirty="0">
                <a:solidFill>
                  <a:srgbClr val="156082"/>
                </a:solidFill>
              </a:rPr>
              <a:t>osrm-extract / partition x3</a:t>
            </a:r>
          </a:p>
        </p:txBody>
      </p:sp>
      <p:sp>
        <p:nvSpPr>
          <p:cNvPr id="22" name="art_osrm"/>
          <p:cNvSpPr>
            <a:spLocks noGrp="1"/>
          </p:cNvSpPr>
          <p:nvPr/>
        </p:nvSpPr>
        <p:spPr>
          <a:xfrm>
            <a:off x="812800" y="1549400"/>
            <a:ext cx="1651000" cy="457200"/>
          </a:xfrm>
          <a:prstGeom prst="rect">
            <a:avLst/>
          </a:prstGeom>
          <a:solidFill>
            <a:srgbClr val="FFFDE7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00" b="1" dirty="0">
                <a:solidFill>
                  <a:srgbClr val="5D4037"/>
                </a:solidFill>
              </a:rPr>
              <a:t>Grafos OSRM</a:t>
            </a:r>
          </a:p>
          <a:p>
            <a:pPr algn="ctr">
              <a:spcBef>
                <a:spcPts val="60"/>
              </a:spcBef>
            </a:pPr>
            <a:r>
              <a:rPr lang="es-ES" sz="700" dirty="0">
                <a:solidFill>
                  <a:srgbClr val="795548"/>
                </a:solidFill>
              </a:rPr>
              <a:t>car / bike / foot</a:t>
            </a:r>
          </a:p>
        </p:txBody>
      </p:sp>
      <p:sp>
        <p:nvSpPr>
          <p:cNvPr id="30" name="a1a"/>
          <p:cNvSpPr>
            <a:spLocks noGrp="1"/>
          </p:cNvSpPr>
          <p:nvPr/>
        </p:nvSpPr>
        <p:spPr>
          <a:xfrm>
            <a:off x="1638300" y="1041400"/>
            <a:ext cx="25400" cy="1270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1" name="a1b"/>
          <p:cNvSpPr>
            <a:spLocks noGrp="1"/>
          </p:cNvSpPr>
          <p:nvPr/>
        </p:nvSpPr>
        <p:spPr>
          <a:xfrm>
            <a:off x="1638300" y="1422400"/>
            <a:ext cx="25400" cy="1270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3" name="src_nap"/>
          <p:cNvSpPr>
            <a:spLocks noGrp="1"/>
          </p:cNvSpPr>
          <p:nvPr/>
        </p:nvSpPr>
        <p:spPr>
          <a:xfrm>
            <a:off x="4445000" y="584200"/>
            <a:ext cx="1651000" cy="457200"/>
          </a:xfrm>
          <a:prstGeom prst="rect">
            <a:avLst/>
          </a:prstGeom>
          <a:solidFill>
            <a:srgbClr val="FFFFFF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1B5E20"/>
                </a:solidFill>
              </a:rPr>
              <a:t>NAP Transportes</a:t>
            </a:r>
          </a:p>
          <a:p>
            <a:pPr algn="ctr">
              <a:spcBef>
                <a:spcPts val="60"/>
              </a:spcBef>
            </a:pPr>
            <a:r>
              <a:rPr lang="es-ES" sz="680" dirty="0">
                <a:solidFill>
                  <a:srgbClr val="555555"/>
                </a:solidFill>
              </a:rPr>
              <a:t>GTFS Toledo urbano</a:t>
            </a:r>
          </a:p>
        </p:txBody>
      </p:sp>
      <p:sp>
        <p:nvSpPr>
          <p:cNvPr id="24" name="art_gtfs"/>
          <p:cNvSpPr>
            <a:spLocks noGrp="1"/>
          </p:cNvSpPr>
          <p:nvPr/>
        </p:nvSpPr>
        <p:spPr>
          <a:xfrm>
            <a:off x="4445000" y="1168400"/>
            <a:ext cx="1651000" cy="254000"/>
          </a:xfrm>
          <a:prstGeom prst="rect">
            <a:avLst/>
          </a:prstGeom>
          <a:solidFill>
            <a:srgbClr val="FFFDE7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00" b="1" dirty="0">
                <a:solidFill>
                  <a:srgbClr val="5D4037"/>
                </a:solidFill>
              </a:rPr>
              <a:t>Feed GTFS</a:t>
            </a:r>
          </a:p>
        </p:txBody>
      </p:sp>
      <p:sp>
        <p:nvSpPr>
          <p:cNvPr id="25" name="proc_otp"/>
          <p:cNvSpPr>
            <a:spLocks noGrp="1"/>
          </p:cNvSpPr>
          <p:nvPr/>
        </p:nvSpPr>
        <p:spPr>
          <a:xfrm>
            <a:off x="4445000" y="1485900"/>
            <a:ext cx="1651000" cy="254000"/>
          </a:xfrm>
          <a:prstGeom prst="rect">
            <a:avLst/>
          </a:prstGeom>
          <a:solidFill>
            <a:srgbClr val="FFF3E0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680" dirty="0">
                <a:solidFill>
                  <a:srgbClr val="BF360C"/>
                </a:solidFill>
              </a:rPr>
              <a:t>OTP graph build</a:t>
            </a:r>
          </a:p>
        </p:txBody>
      </p:sp>
      <p:sp>
        <p:nvSpPr>
          <p:cNvPr id="26" name="art_graph"/>
          <p:cNvSpPr>
            <a:spLocks noGrp="1"/>
          </p:cNvSpPr>
          <p:nvPr/>
        </p:nvSpPr>
        <p:spPr>
          <a:xfrm>
            <a:off x="4445000" y="1549400"/>
            <a:ext cx="1651000" cy="457200"/>
          </a:xfrm>
          <a:prstGeom prst="rect">
            <a:avLst/>
          </a:prstGeom>
          <a:solidFill>
            <a:srgbClr val="FFFDE7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00" b="1" dirty="0">
                <a:solidFill>
                  <a:srgbClr val="5D4037"/>
                </a:solidFill>
              </a:rPr>
              <a:t>graph.obj</a:t>
            </a:r>
          </a:p>
          <a:p>
            <a:pPr algn="ctr">
              <a:spcBef>
                <a:spcPts val="60"/>
              </a:spcBef>
            </a:pPr>
            <a:r>
              <a:rPr lang="es-ES" sz="700" dirty="0">
                <a:solidFill>
                  <a:srgbClr val="795548"/>
                </a:solidFill>
              </a:rPr>
              <a:t>grafo multimodal</a:t>
            </a:r>
          </a:p>
        </p:txBody>
      </p:sp>
      <p:sp>
        <p:nvSpPr>
          <p:cNvPr id="32" name="a2a"/>
          <p:cNvSpPr>
            <a:spLocks noGrp="1"/>
          </p:cNvSpPr>
          <p:nvPr/>
        </p:nvSpPr>
        <p:spPr>
          <a:xfrm>
            <a:off x="5270500" y="1041400"/>
            <a:ext cx="25400" cy="1270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3" name="a2c"/>
          <p:cNvSpPr>
            <a:spLocks noGrp="1"/>
          </p:cNvSpPr>
          <p:nvPr/>
        </p:nvSpPr>
        <p:spPr>
          <a:xfrm>
            <a:off x="5270500" y="1422400"/>
            <a:ext cx="25400" cy="635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4" name="a2d"/>
          <p:cNvSpPr>
            <a:spLocks noGrp="1"/>
          </p:cNvSpPr>
          <p:nvPr/>
        </p:nvSpPr>
        <p:spPr>
          <a:xfrm flipV="1">
            <a:off x="5270500" y="1549400"/>
            <a:ext cx="25400" cy="1905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src_lpmc"/>
          <p:cNvSpPr>
            <a:spLocks noGrp="1"/>
          </p:cNvSpPr>
          <p:nvPr/>
        </p:nvSpPr>
        <p:spPr>
          <a:xfrm>
            <a:off x="8128000" y="584200"/>
            <a:ext cx="1651000" cy="457200"/>
          </a:xfrm>
          <a:prstGeom prst="rect">
            <a:avLst/>
          </a:prstGeom>
          <a:solidFill>
            <a:srgbClr val="FFFFFF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1A237E"/>
                </a:solidFill>
              </a:rPr>
              <a:t>Dataset LPMC</a:t>
            </a:r>
          </a:p>
          <a:p>
            <a:pPr algn="ctr">
              <a:spcBef>
                <a:spcPts val="60"/>
              </a:spcBef>
            </a:pPr>
            <a:r>
              <a:rPr lang="es-ES" sz="680" dirty="0">
                <a:solidFill>
                  <a:srgbClr val="555555"/>
                </a:solidFill>
              </a:rPr>
              <a:t>Hillel 2018 - Londres</a:t>
            </a:r>
          </a:p>
        </p:txBody>
      </p:sp>
      <p:sp>
        <p:nvSpPr>
          <p:cNvPr id="28" name="proc_ml"/>
          <p:cNvSpPr>
            <a:spLocks noGrp="1"/>
          </p:cNvSpPr>
          <p:nvPr/>
        </p:nvSpPr>
        <p:spPr>
          <a:xfrm>
            <a:off x="8128000" y="1168400"/>
            <a:ext cx="1651000" cy="254000"/>
          </a:xfrm>
          <a:prstGeom prst="rect">
            <a:avLst/>
          </a:prstGeom>
          <a:solidFill>
            <a:srgbClr val="E8F5E9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680" dirty="0">
                <a:solidFill>
                  <a:srgbClr val="196B24"/>
                </a:solidFill>
              </a:rPr>
              <a:t>Entrenamiento ML</a:t>
            </a:r>
          </a:p>
        </p:txBody>
      </p:sp>
      <p:sp>
        <p:nvSpPr>
          <p:cNvPr id="29" name="art_lpmc"/>
          <p:cNvSpPr>
            <a:spLocks noGrp="1"/>
          </p:cNvSpPr>
          <p:nvPr/>
        </p:nvSpPr>
        <p:spPr>
          <a:xfrm>
            <a:off x="8128000" y="1549400"/>
            <a:ext cx="1651000" cy="457200"/>
          </a:xfrm>
          <a:prstGeom prst="rect">
            <a:avLst/>
          </a:prstGeom>
          <a:solidFill>
            <a:srgbClr val="FFFDE7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00" b="1" dirty="0">
                <a:solidFill>
                  <a:srgbClr val="5D4037"/>
                </a:solidFill>
              </a:rPr>
              <a:t>Modelos LPMC</a:t>
            </a:r>
          </a:p>
          <a:p>
            <a:pPr algn="ctr">
              <a:spcBef>
                <a:spcPts val="60"/>
              </a:spcBef>
            </a:pPr>
            <a:r>
              <a:rPr lang="es-ES" sz="700" dirty="0">
                <a:solidFill>
                  <a:srgbClr val="795548"/>
                </a:solidFill>
              </a:rPr>
              <a:t>XGBoost / RF / DNN</a:t>
            </a:r>
          </a:p>
        </p:txBody>
      </p:sp>
      <p:sp>
        <p:nvSpPr>
          <p:cNvPr id="35" name="a3a"/>
          <p:cNvSpPr>
            <a:spLocks noGrp="1"/>
          </p:cNvSpPr>
          <p:nvPr/>
        </p:nvSpPr>
        <p:spPr>
          <a:xfrm>
            <a:off x="8953500" y="1041400"/>
            <a:ext cx="25400" cy="1270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6" name="a3b"/>
          <p:cNvSpPr>
            <a:spLocks noGrp="1"/>
          </p:cNvSpPr>
          <p:nvPr/>
        </p:nvSpPr>
        <p:spPr>
          <a:xfrm>
            <a:off x="8953500" y="1422400"/>
            <a:ext cx="25400" cy="127000"/>
          </a:xfrm>
          <a:prstGeom prst="line">
            <a:avLst/>
          </a:prstGeom>
          <a:noFill/>
          <a:ln w="9144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0" name="ct_fe"/>
          <p:cNvSpPr>
            <a:spLocks noGrp="1"/>
          </p:cNvSpPr>
          <p:nvPr/>
        </p:nvSpPr>
        <p:spPr>
          <a:xfrm>
            <a:off x="812800" y="2895600"/>
            <a:ext cx="1473200" cy="3556000"/>
          </a:xfrm>
          <a:prstGeom prst="rect">
            <a:avLst/>
          </a:prstGeom>
          <a:solidFill>
            <a:srgbClr val="FFFFFF"/>
          </a:solidFill>
          <a:ln w="18000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00" b="1" dirty="0">
                <a:solidFill>
                  <a:srgbClr val="20B2AA"/>
                </a:solidFill>
              </a:rPr>
              <a:t>React + Vite</a:t>
            </a:r>
          </a:p>
          <a:p>
            <a:pPr algn="ctr">
              <a:spcBef>
                <a:spcPts val="60"/>
              </a:spcBef>
            </a:pPr>
            <a:endParaRPr lang="es-ES" sz="800" b="1" dirty="0">
              <a:solidFill>
                <a:srgbClr val="20B2AA"/>
              </a:solidFill>
            </a:endParaRPr>
          </a:p>
          <a:p>
            <a:pPr algn="ctr">
              <a:spcBef>
                <a:spcPts val="60"/>
              </a:spcBef>
            </a:pPr>
            <a:r>
              <a:rPr lang="es-ES" sz="900" b="1" dirty="0">
                <a:solidFill>
                  <a:srgbClr val="222222"/>
                </a:solidFill>
              </a:rPr>
              <a:t>frontend</a:t>
            </a:r>
          </a:p>
          <a:p>
            <a:pPr algn="ctr">
              <a:spcBef>
                <a:spcPts val="60"/>
              </a:spcBef>
            </a:pPr>
            <a:r>
              <a:rPr lang="es-ES" sz="780" dirty="0">
                <a:solidFill>
                  <a:srgbClr val="156082"/>
                </a:solidFill>
              </a:rPr>
              <a:t>:5173</a:t>
            </a:r>
          </a:p>
        </p:txBody>
      </p:sp>
      <p:sp>
        <p:nvSpPr>
          <p:cNvPr id="51" name="ct_be"/>
          <p:cNvSpPr>
            <a:spLocks noGrp="1"/>
          </p:cNvSpPr>
          <p:nvPr/>
        </p:nvSpPr>
        <p:spPr>
          <a:xfrm>
            <a:off x="2438400" y="2895600"/>
            <a:ext cx="1879600" cy="3556000"/>
          </a:xfrm>
          <a:prstGeom prst="rect">
            <a:avLst/>
          </a:prstGeom>
          <a:solidFill>
            <a:srgbClr val="FFFFFF"/>
          </a:solidFill>
          <a:ln w="18000">
            <a:prstDash val="solid"/>
          </a:ln>
        </p:spPr>
        <p:txBody>
          <a:bodyPr wrap="square" lIns="36000" tIns="36000" rIns="36000" bIns="36000" anchor="t"/>
          <a:lstStyle/>
          <a:p>
            <a:pPr algn="ctr">
              <a:spcBef>
                <a:spcPts val="60"/>
              </a:spcBef>
            </a:pPr>
            <a:r>
              <a:rPr lang="es-ES" sz="880" b="1" dirty="0">
                <a:solidFill>
                  <a:srgbClr val="009688"/>
                </a:solidFill>
              </a:rPr>
              <a:t>FastAPI</a:t>
            </a:r>
          </a:p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222222"/>
                </a:solidFill>
              </a:rPr>
              <a:t>backend :8000</a:t>
            </a:r>
          </a:p>
        </p:txBody>
      </p:sp>
      <p:sp>
        <p:nvSpPr>
          <p:cNvPr id="60" name="rt0"/>
          <p:cNvSpPr>
            <a:spLocks noGrp="1"/>
          </p:cNvSpPr>
          <p:nvPr/>
        </p:nvSpPr>
        <p:spPr>
          <a:xfrm>
            <a:off x="2540000" y="3479800"/>
            <a:ext cx="1676400" cy="635000"/>
          </a:xfrm>
          <a:prstGeom prst="rect">
            <a:avLst/>
          </a:prstGeom>
          <a:solidFill>
            <a:srgbClr val="E8F4FD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156082"/>
                </a:solidFill>
              </a:rPr>
              <a:t>/api/osrm</a:t>
            </a:r>
          </a:p>
        </p:txBody>
      </p:sp>
      <p:sp>
        <p:nvSpPr>
          <p:cNvPr id="61" name="rt1"/>
          <p:cNvSpPr>
            <a:spLocks noGrp="1"/>
          </p:cNvSpPr>
          <p:nvPr/>
        </p:nvSpPr>
        <p:spPr>
          <a:xfrm>
            <a:off x="2540000" y="4191000"/>
            <a:ext cx="1676400" cy="635000"/>
          </a:xfrm>
          <a:prstGeom prst="rect">
            <a:avLst/>
          </a:prstGeom>
          <a:solidFill>
            <a:srgbClr val="FFF3E0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E97132"/>
                </a:solidFill>
              </a:rPr>
              <a:t>/api/otp</a:t>
            </a:r>
          </a:p>
        </p:txBody>
      </p:sp>
      <p:sp>
        <p:nvSpPr>
          <p:cNvPr id="62" name="rt2"/>
          <p:cNvSpPr>
            <a:spLocks noGrp="1"/>
          </p:cNvSpPr>
          <p:nvPr/>
        </p:nvSpPr>
        <p:spPr>
          <a:xfrm>
            <a:off x="2540000" y="4902200"/>
            <a:ext cx="1676400" cy="635000"/>
          </a:xfrm>
          <a:prstGeom prst="rect">
            <a:avLst/>
          </a:prstGeom>
          <a:solidFill>
            <a:srgbClr val="E8F5E9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4EA72E"/>
                </a:solidFill>
              </a:rPr>
              <a:t>/api/gtfs</a:t>
            </a:r>
          </a:p>
        </p:txBody>
      </p:sp>
      <p:sp>
        <p:nvSpPr>
          <p:cNvPr id="63" name="rt3"/>
          <p:cNvSpPr>
            <a:spLocks noGrp="1"/>
          </p:cNvSpPr>
          <p:nvPr/>
        </p:nvSpPr>
        <p:spPr>
          <a:xfrm>
            <a:off x="2540000" y="5613400"/>
            <a:ext cx="1676400" cy="635000"/>
          </a:xfrm>
          <a:prstGeom prst="rect">
            <a:avLst/>
          </a:prstGeom>
          <a:solidFill>
            <a:srgbClr val="FCE4EC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80" b="1" dirty="0">
                <a:solidFill>
                  <a:srgbClr val="A02B93"/>
                </a:solidFill>
              </a:rPr>
              <a:t>/api/lpmc</a:t>
            </a:r>
          </a:p>
        </p:txBody>
      </p:sp>
      <p:sp>
        <p:nvSpPr>
          <p:cNvPr id="70" name="osrm_car"/>
          <p:cNvSpPr>
            <a:spLocks noGrp="1"/>
          </p:cNvSpPr>
          <p:nvPr/>
        </p:nvSpPr>
        <p:spPr>
          <a:xfrm>
            <a:off x="4521200" y="2895600"/>
            <a:ext cx="1549400" cy="1117600"/>
          </a:xfrm>
          <a:prstGeom prst="rect">
            <a:avLst/>
          </a:prstGeom>
          <a:solidFill>
            <a:srgbClr val="FFFFFF"/>
          </a:solidFill>
          <a:ln w="18000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20" b="1" dirty="0">
                <a:solidFill>
                  <a:srgbClr val="546E7A"/>
                </a:solidFill>
              </a:rPr>
              <a:t>OSRM · car</a:t>
            </a:r>
          </a:p>
          <a:p>
            <a:pPr algn="ctr">
              <a:spcBef>
                <a:spcPts val="60"/>
              </a:spcBef>
            </a:pPr>
            <a:r>
              <a:rPr lang="es-ES" sz="780" dirty="0">
                <a:solidFill>
                  <a:srgbClr val="222222"/>
                </a:solidFill>
              </a:rPr>
              <a:t>:5000</a:t>
            </a:r>
          </a:p>
        </p:txBody>
      </p:sp>
      <p:sp>
        <p:nvSpPr>
          <p:cNvPr id="71" name="osrm_bike"/>
          <p:cNvSpPr>
            <a:spLocks noGrp="1"/>
          </p:cNvSpPr>
          <p:nvPr/>
        </p:nvSpPr>
        <p:spPr>
          <a:xfrm>
            <a:off x="4521200" y="4089400"/>
            <a:ext cx="1549400" cy="1117600"/>
          </a:xfrm>
          <a:prstGeom prst="rect">
            <a:avLst/>
          </a:prstGeom>
          <a:solidFill>
            <a:srgbClr val="FFFFFF"/>
          </a:solidFill>
          <a:ln w="18000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20" b="1" dirty="0">
                <a:solidFill>
                  <a:srgbClr val="546E7A"/>
                </a:solidFill>
              </a:rPr>
              <a:t>OSRM · bike</a:t>
            </a:r>
          </a:p>
          <a:p>
            <a:pPr algn="ctr">
              <a:spcBef>
                <a:spcPts val="60"/>
              </a:spcBef>
            </a:pPr>
            <a:r>
              <a:rPr lang="es-ES" sz="780" dirty="0">
                <a:solidFill>
                  <a:srgbClr val="222222"/>
                </a:solidFill>
              </a:rPr>
              <a:t>:5001</a:t>
            </a:r>
          </a:p>
        </p:txBody>
      </p:sp>
      <p:sp>
        <p:nvSpPr>
          <p:cNvPr id="72" name="osrm_foot"/>
          <p:cNvSpPr>
            <a:spLocks noGrp="1"/>
          </p:cNvSpPr>
          <p:nvPr/>
        </p:nvSpPr>
        <p:spPr>
          <a:xfrm>
            <a:off x="4521200" y="5283200"/>
            <a:ext cx="1549400" cy="1117600"/>
          </a:xfrm>
          <a:prstGeom prst="rect">
            <a:avLst/>
          </a:prstGeom>
          <a:solidFill>
            <a:srgbClr val="FFFFFF"/>
          </a:solidFill>
          <a:ln w="18000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820" b="1" dirty="0">
                <a:solidFill>
                  <a:srgbClr val="546E7A"/>
                </a:solidFill>
              </a:rPr>
              <a:t>OSRM · foot</a:t>
            </a:r>
          </a:p>
          <a:p>
            <a:pPr algn="ctr">
              <a:spcBef>
                <a:spcPts val="60"/>
              </a:spcBef>
            </a:pPr>
            <a:r>
              <a:rPr lang="es-ES" sz="780" dirty="0">
                <a:solidFill>
                  <a:srgbClr val="222222"/>
                </a:solidFill>
              </a:rPr>
              <a:t>:5002</a:t>
            </a:r>
          </a:p>
        </p:txBody>
      </p:sp>
      <p:sp>
        <p:nvSpPr>
          <p:cNvPr id="73" name="ct_otp"/>
          <p:cNvSpPr>
            <a:spLocks noGrp="1"/>
          </p:cNvSpPr>
          <p:nvPr/>
        </p:nvSpPr>
        <p:spPr>
          <a:xfrm>
            <a:off x="6248400" y="2895600"/>
            <a:ext cx="1549400" cy="3556000"/>
          </a:xfrm>
          <a:prstGeom prst="rect">
            <a:avLst/>
          </a:prstGeom>
          <a:solidFill>
            <a:srgbClr val="FFFFFF"/>
          </a:solidFill>
          <a:ln w="18000">
            <a:prstDash val="solid"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1000" b="1" dirty="0">
                <a:solidFill>
                  <a:srgbClr val="E97132"/>
                </a:solidFill>
              </a:rPr>
              <a:t>OTP</a:t>
            </a:r>
          </a:p>
          <a:p>
            <a:pPr algn="ctr">
              <a:spcBef>
                <a:spcPts val="60"/>
              </a:spcBef>
            </a:pPr>
            <a:r>
              <a:rPr lang="es-ES" sz="780" dirty="0">
                <a:solidFill>
                  <a:srgbClr val="555555"/>
                </a:solidFill>
              </a:rPr>
              <a:t>OpenTrip Planner</a:t>
            </a:r>
          </a:p>
          <a:p>
            <a:pPr algn="ctr">
              <a:spcBef>
                <a:spcPts val="60"/>
              </a:spcBef>
            </a:pPr>
            <a:endParaRPr lang="es-ES" sz="780" dirty="0">
              <a:solidFill>
                <a:srgbClr val="555555"/>
              </a:solidFill>
            </a:endParaRPr>
          </a:p>
          <a:p>
            <a:pPr algn="ctr">
              <a:spcBef>
                <a:spcPts val="60"/>
              </a:spcBef>
            </a:pPr>
            <a:r>
              <a:rPr lang="es-ES" sz="840" b="1" dirty="0">
                <a:solidFill>
                  <a:srgbClr val="222222"/>
                </a:solidFill>
              </a:rPr>
              <a:t>otp :8080</a:t>
            </a:r>
          </a:p>
        </p:txBody>
      </p:sp>
      <p:sp>
        <p:nvSpPr>
          <p:cNvPr id="80" name="u_head"/>
          <p:cNvSpPr>
            <a:spLocks noGrp="1"/>
          </p:cNvSpPr>
          <p:nvPr/>
        </p:nvSpPr>
        <p:spPr>
          <a:xfrm>
            <a:off x="215900" y="4343400"/>
            <a:ext cx="279400" cy="279400"/>
          </a:xfrm>
          <a:prstGeom prst="ellipse">
            <a:avLst/>
          </a:prstGeom>
          <a:solidFill>
            <a:srgbClr val="D0D7DE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endParaRPr lang="es-ES" dirty="0"/>
          </a:p>
        </p:txBody>
      </p:sp>
      <p:sp>
        <p:nvSpPr>
          <p:cNvPr id="81" name="u_body"/>
          <p:cNvSpPr>
            <a:spLocks noGrp="1"/>
          </p:cNvSpPr>
          <p:nvPr/>
        </p:nvSpPr>
        <p:spPr>
          <a:xfrm>
            <a:off x="165100" y="4648200"/>
            <a:ext cx="381000" cy="304800"/>
          </a:xfrm>
          <a:prstGeom prst="ellipse">
            <a:avLst/>
          </a:prstGeom>
          <a:solidFill>
            <a:srgbClr val="D0D7DE"/>
          </a:solidFill>
          <a:ln w="9144">
            <a:prstDash val="solid"/>
          </a:ln>
        </p:spPr>
        <p:txBody>
          <a:bodyPr wrap="square" lIns="36000" tIns="36000" rIns="36000" bIns="36000" anchor="ctr"/>
          <a:lstStyle/>
          <a:p>
            <a:endParaRPr lang="es-ES" dirty="0"/>
          </a:p>
        </p:txBody>
      </p:sp>
      <p:sp>
        <p:nvSpPr>
          <p:cNvPr id="82" name="u_lbl"/>
          <p:cNvSpPr>
            <a:spLocks noGrp="1"/>
          </p:cNvSpPr>
          <p:nvPr/>
        </p:nvSpPr>
        <p:spPr>
          <a:xfrm>
            <a:off x="127000" y="49911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50" b="1" dirty="0">
                <a:solidFill>
                  <a:srgbClr val="333333"/>
                </a:solidFill>
              </a:rPr>
              <a:t>Usuario</a:t>
            </a:r>
          </a:p>
        </p:txBody>
      </p:sp>
      <p:sp>
        <p:nvSpPr>
          <p:cNvPr id="90" name="u_fe"/>
          <p:cNvSpPr>
            <a:spLocks noGrp="1"/>
          </p:cNvSpPr>
          <p:nvPr/>
        </p:nvSpPr>
        <p:spPr>
          <a:xfrm>
            <a:off x="571500" y="4673600"/>
            <a:ext cx="241300" cy="25400"/>
          </a:xfrm>
          <a:prstGeom prst="line">
            <a:avLst/>
          </a:prstGeom>
          <a:noFill/>
          <a:ln w="19050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1" name="fe_be"/>
          <p:cNvSpPr>
            <a:spLocks noGrp="1"/>
          </p:cNvSpPr>
          <p:nvPr/>
        </p:nvSpPr>
        <p:spPr>
          <a:xfrm>
            <a:off x="2286000" y="4673600"/>
            <a:ext cx="152400" cy="25400"/>
          </a:xfrm>
          <a:prstGeom prst="line">
            <a:avLst/>
          </a:prstGeom>
          <a:noFill/>
          <a:ln w="14000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2" name="be_car"/>
          <p:cNvSpPr>
            <a:spLocks noGrp="1"/>
          </p:cNvSpPr>
          <p:nvPr/>
        </p:nvSpPr>
        <p:spPr>
          <a:xfrm flipV="1">
            <a:off x="4318000" y="3454400"/>
            <a:ext cx="203200" cy="342900"/>
          </a:xfrm>
          <a:prstGeom prst="line">
            <a:avLst/>
          </a:prstGeom>
          <a:noFill/>
          <a:ln w="12700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3" name="be_bike"/>
          <p:cNvSpPr>
            <a:spLocks noGrp="1"/>
          </p:cNvSpPr>
          <p:nvPr/>
        </p:nvSpPr>
        <p:spPr>
          <a:xfrm>
            <a:off x="4318000" y="3797300"/>
            <a:ext cx="203200" cy="850900"/>
          </a:xfrm>
          <a:prstGeom prst="line">
            <a:avLst/>
          </a:prstGeom>
          <a:noFill/>
          <a:ln w="12700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4" name="be_foot"/>
          <p:cNvSpPr>
            <a:spLocks noGrp="1"/>
          </p:cNvSpPr>
          <p:nvPr/>
        </p:nvSpPr>
        <p:spPr>
          <a:xfrm>
            <a:off x="4318000" y="3797300"/>
            <a:ext cx="203200" cy="2044700"/>
          </a:xfrm>
          <a:prstGeom prst="line">
            <a:avLst/>
          </a:prstGeom>
          <a:noFill/>
          <a:ln w="12700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5" name="be_otp"/>
          <p:cNvSpPr>
            <a:spLocks noGrp="1"/>
          </p:cNvSpPr>
          <p:nvPr/>
        </p:nvSpPr>
        <p:spPr>
          <a:xfrm>
            <a:off x="4318000" y="4508500"/>
            <a:ext cx="1930400" cy="165100"/>
          </a:xfrm>
          <a:prstGeom prst="line">
            <a:avLst/>
          </a:prstGeom>
          <a:noFill/>
          <a:ln w="12700">
            <a:prstDash val="solid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0" name="off_car"/>
          <p:cNvSpPr>
            <a:spLocks noGrp="1"/>
          </p:cNvSpPr>
          <p:nvPr/>
        </p:nvSpPr>
        <p:spPr>
          <a:xfrm>
            <a:off x="1638300" y="2006600"/>
            <a:ext cx="3657600" cy="889000"/>
          </a:xfrm>
          <a:prstGeom prst="line">
            <a:avLst/>
          </a:prstGeom>
          <a:noFill/>
          <a:ln w="9144">
            <a:prstDash val="dash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1" name="off_bike"/>
          <p:cNvSpPr>
            <a:spLocks noGrp="1"/>
          </p:cNvSpPr>
          <p:nvPr/>
        </p:nvSpPr>
        <p:spPr>
          <a:xfrm>
            <a:off x="1638300" y="2006600"/>
            <a:ext cx="3657600" cy="2082800"/>
          </a:xfrm>
          <a:prstGeom prst="line">
            <a:avLst/>
          </a:prstGeom>
          <a:noFill/>
          <a:ln w="9144">
            <a:prstDash val="dash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2" name="off_foot"/>
          <p:cNvSpPr>
            <a:spLocks noGrp="1"/>
          </p:cNvSpPr>
          <p:nvPr/>
        </p:nvSpPr>
        <p:spPr>
          <a:xfrm>
            <a:off x="1638300" y="2006600"/>
            <a:ext cx="3657600" cy="3276600"/>
          </a:xfrm>
          <a:prstGeom prst="line">
            <a:avLst/>
          </a:prstGeom>
          <a:noFill/>
          <a:ln w="9144">
            <a:prstDash val="dash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3" name="off_otp"/>
          <p:cNvSpPr>
            <a:spLocks noGrp="1"/>
          </p:cNvSpPr>
          <p:nvPr/>
        </p:nvSpPr>
        <p:spPr>
          <a:xfrm>
            <a:off x="5270500" y="2006600"/>
            <a:ext cx="1752600" cy="889000"/>
          </a:xfrm>
          <a:prstGeom prst="line">
            <a:avLst/>
          </a:prstGeom>
          <a:noFill/>
          <a:ln w="9144">
            <a:prstDash val="dash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4" name="off_gtfs"/>
          <p:cNvSpPr>
            <a:spLocks noGrp="1"/>
          </p:cNvSpPr>
          <p:nvPr/>
        </p:nvSpPr>
        <p:spPr>
          <a:xfrm flipH="1">
            <a:off x="3276600" y="2006600"/>
            <a:ext cx="1993900" cy="889000"/>
          </a:xfrm>
          <a:prstGeom prst="line">
            <a:avLst/>
          </a:prstGeom>
          <a:noFill/>
          <a:ln w="9144">
            <a:prstDash val="dash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5" name="off_lpmc"/>
          <p:cNvSpPr>
            <a:spLocks noGrp="1"/>
          </p:cNvSpPr>
          <p:nvPr/>
        </p:nvSpPr>
        <p:spPr>
          <a:xfrm flipH="1">
            <a:off x="3479800" y="2006600"/>
            <a:ext cx="5473700" cy="889000"/>
          </a:xfrm>
          <a:prstGeom prst="line">
            <a:avLst/>
          </a:prstGeom>
          <a:noFill/>
          <a:ln w="9144">
            <a:prstDash val="dash"/>
            <a:tailEnd type="arrow" w="med" len="me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10" name="legend"/>
          <p:cNvSpPr>
            <a:spLocks noGrp="1"/>
          </p:cNvSpPr>
          <p:nvPr/>
        </p:nvSpPr>
        <p:spPr>
          <a:xfrm>
            <a:off x="812800" y="6680200"/>
            <a:ext cx="1104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ctr"/>
          <a:lstStyle/>
          <a:p>
            <a:pPr algn="ctr">
              <a:spcBef>
                <a:spcPts val="60"/>
              </a:spcBef>
            </a:pPr>
            <a:r>
              <a:rPr lang="es-ES" sz="700" dirty="0">
                <a:solidFill>
                  <a:srgbClr val="888888"/>
                </a:solidFill>
              </a:rPr>
              <a:t>Gris - - - datos offline (preprocesado)      Azul solido peticion en tiempo real</a:t>
            </a:r>
          </a:p>
        </p:txBody>
      </p:sp>
    </p:spTree>
    <p:extLst>
      <p:ext uri="{BB962C8B-B14F-4D97-AF65-F5344CB8AC3E}">
        <p14:creationId xmlns:p14="http://schemas.microsoft.com/office/powerpoint/2010/main" val="126049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rupo 1100">
            <a:extLst>
              <a:ext uri="{FF2B5EF4-FFF2-40B4-BE49-F238E27FC236}">
                <a16:creationId xmlns:a16="http://schemas.microsoft.com/office/drawing/2014/main" id="{7B62421F-318C-F223-331D-08C7107278CF}"/>
              </a:ext>
            </a:extLst>
          </p:cNvPr>
          <p:cNvGrpSpPr/>
          <p:nvPr/>
        </p:nvGrpSpPr>
        <p:grpSpPr>
          <a:xfrm>
            <a:off x="63699" y="5339310"/>
            <a:ext cx="1157025" cy="917972"/>
            <a:chOff x="31695" y="5696712"/>
            <a:chExt cx="1157025" cy="917972"/>
          </a:xfrm>
        </p:grpSpPr>
        <p:pic>
          <p:nvPicPr>
            <p:cNvPr id="1035" name="Imagen 1034">
              <a:extLst>
                <a:ext uri="{FF2B5EF4-FFF2-40B4-BE49-F238E27FC236}">
                  <a16:creationId xmlns:a16="http://schemas.microsoft.com/office/drawing/2014/main" id="{8EB2EEA5-448E-A94E-3333-8E072A9B6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62" y="6047226"/>
              <a:ext cx="237345" cy="237345"/>
            </a:xfrm>
            <a:prstGeom prst="rect">
              <a:avLst/>
            </a:prstGeom>
          </p:spPr>
        </p:pic>
        <p:pic>
          <p:nvPicPr>
            <p:cNvPr id="1037" name="Imagen 1036">
              <a:extLst>
                <a:ext uri="{FF2B5EF4-FFF2-40B4-BE49-F238E27FC236}">
                  <a16:creationId xmlns:a16="http://schemas.microsoft.com/office/drawing/2014/main" id="{C491BEDC-A8CB-740E-171A-858A6A5A4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1" t="32984" r="5910" b="32342"/>
            <a:stretch>
              <a:fillRect/>
            </a:stretch>
          </p:blipFill>
          <p:spPr>
            <a:xfrm>
              <a:off x="359455" y="6090998"/>
              <a:ext cx="829265" cy="203751"/>
            </a:xfrm>
            <a:prstGeom prst="rect">
              <a:avLst/>
            </a:prstGeom>
          </p:spPr>
        </p:pic>
        <p:pic>
          <p:nvPicPr>
            <p:cNvPr id="1042" name="Gráfico 1041">
              <a:extLst>
                <a:ext uri="{FF2B5EF4-FFF2-40B4-BE49-F238E27FC236}">
                  <a16:creationId xmlns:a16="http://schemas.microsoft.com/office/drawing/2014/main" id="{8D88DBC3-7187-FBBD-3298-D22B26CB7A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936" y="6353586"/>
              <a:ext cx="264976" cy="261098"/>
            </a:xfrm>
            <a:prstGeom prst="rect">
              <a:avLst/>
            </a:prstGeom>
          </p:spPr>
        </p:pic>
        <p:pic>
          <p:nvPicPr>
            <p:cNvPr id="1044" name="Imagen 1043">
              <a:extLst>
                <a:ext uri="{FF2B5EF4-FFF2-40B4-BE49-F238E27FC236}">
                  <a16:creationId xmlns:a16="http://schemas.microsoft.com/office/drawing/2014/main" id="{D1B7DD2C-04EE-F4D1-0C2C-021964003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5" y="5696712"/>
              <a:ext cx="853667" cy="287292"/>
            </a:xfrm>
            <a:prstGeom prst="rect">
              <a:avLst/>
            </a:prstGeom>
          </p:spPr>
        </p:pic>
        <p:pic>
          <p:nvPicPr>
            <p:cNvPr id="1046" name="Imagen 1045">
              <a:extLst>
                <a:ext uri="{FF2B5EF4-FFF2-40B4-BE49-F238E27FC236}">
                  <a16:creationId xmlns:a16="http://schemas.microsoft.com/office/drawing/2014/main" id="{BE6A301F-AC7F-56EA-318B-043F4EF23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04" y="6404372"/>
              <a:ext cx="501181" cy="145079"/>
            </a:xfrm>
            <a:prstGeom prst="rect">
              <a:avLst/>
            </a:prstGeom>
          </p:spPr>
        </p:pic>
      </p:grpSp>
      <p:sp>
        <p:nvSpPr>
          <p:cNvPr id="91" name="Text 76"/>
          <p:cNvSpPr/>
          <p:nvPr/>
        </p:nvSpPr>
        <p:spPr>
          <a:xfrm>
            <a:off x="5843016" y="4800600"/>
            <a:ext cx="4754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.gather</a:t>
            </a:r>
            <a:endParaRPr lang="en-US" sz="550" dirty="0"/>
          </a:p>
        </p:txBody>
      </p:sp>
      <p:sp>
        <p:nvSpPr>
          <p:cNvPr id="90" name="Shape 75"/>
          <p:cNvSpPr/>
          <p:nvPr/>
        </p:nvSpPr>
        <p:spPr>
          <a:xfrm>
            <a:off x="5995416" y="495300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16" name="Imagen 1115">
            <a:extLst>
              <a:ext uri="{FF2B5EF4-FFF2-40B4-BE49-F238E27FC236}">
                <a16:creationId xmlns:a16="http://schemas.microsoft.com/office/drawing/2014/main" id="{4ADDEA5A-6749-C1AD-8259-EC2B694B3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723" y="2903143"/>
            <a:ext cx="1280760" cy="243182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2404872" y="41605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</a:t>
            </a:r>
            <a:endParaRPr lang="en-US" sz="750" dirty="0"/>
          </a:p>
        </p:txBody>
      </p:sp>
      <p:sp>
        <p:nvSpPr>
          <p:cNvPr id="68" name="Shape 56"/>
          <p:cNvSpPr/>
          <p:nvPr/>
        </p:nvSpPr>
        <p:spPr>
          <a:xfrm>
            <a:off x="7031736" y="3776472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555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176" y="3849624"/>
            <a:ext cx="292608" cy="292608"/>
          </a:xfrm>
          <a:prstGeom prst="rect">
            <a:avLst/>
          </a:prstGeom>
        </p:spPr>
      </p:pic>
      <p:sp>
        <p:nvSpPr>
          <p:cNvPr id="70" name="Text 57"/>
          <p:cNvSpPr/>
          <p:nvPr/>
        </p:nvSpPr>
        <p:spPr>
          <a:xfrm>
            <a:off x="7488936" y="38587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osrm-bike</a:t>
            </a:r>
            <a:endParaRPr lang="en-US" sz="1100" dirty="0"/>
          </a:p>
        </p:txBody>
      </p:sp>
      <p:sp>
        <p:nvSpPr>
          <p:cNvPr id="71" name="Text 58"/>
          <p:cNvSpPr/>
          <p:nvPr/>
        </p:nvSpPr>
        <p:spPr>
          <a:xfrm>
            <a:off x="7123176" y="427939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7031736" y="4828032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555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4901184"/>
            <a:ext cx="292608" cy="292608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7488936" y="49103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osrm-foot</a:t>
            </a:r>
            <a:endParaRPr lang="en-US" sz="1100" dirty="0"/>
          </a:p>
        </p:txBody>
      </p:sp>
      <p:sp>
        <p:nvSpPr>
          <p:cNvPr id="75" name="Text 61"/>
          <p:cNvSpPr/>
          <p:nvPr/>
        </p:nvSpPr>
        <p:spPr>
          <a:xfrm>
            <a:off x="7123176" y="5330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00" dirty="0"/>
          </a:p>
        </p:txBody>
      </p:sp>
      <p:pic>
        <p:nvPicPr>
          <p:cNvPr id="1155" name="Gráfico 1154" descr="Monitor con relleno sólido">
            <a:extLst>
              <a:ext uri="{FF2B5EF4-FFF2-40B4-BE49-F238E27FC236}">
                <a16:creationId xmlns:a16="http://schemas.microsoft.com/office/drawing/2014/main" id="{C4464BAA-5098-F41E-AC38-3BE9ADA4D8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91218" y="5228971"/>
            <a:ext cx="543052" cy="543052"/>
          </a:xfrm>
          <a:prstGeom prst="rect">
            <a:avLst/>
          </a:prstGeom>
        </p:spPr>
      </p:pic>
      <p:pic>
        <p:nvPicPr>
          <p:cNvPr id="1157" name="Gráfico 1156" descr="Smartphone con relleno sólido">
            <a:extLst>
              <a:ext uri="{FF2B5EF4-FFF2-40B4-BE49-F238E27FC236}">
                <a16:creationId xmlns:a16="http://schemas.microsoft.com/office/drawing/2014/main" id="{FD749CC6-B04B-A60A-AE03-1D195F1AD5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2635" y="5212226"/>
            <a:ext cx="489005" cy="4890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D8E28B-5702-E290-9BFC-23B6DB7258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9891" y="4586962"/>
            <a:ext cx="2179302" cy="173953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02336"/>
            <a:ext cx="12161520" cy="18105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201168" y="4297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y preprocesado (offline)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1680" y="502920"/>
            <a:ext cx="347472" cy="34747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91440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5"/>
          <p:cNvSpPr/>
          <p:nvPr/>
        </p:nvSpPr>
        <p:spPr>
          <a:xfrm>
            <a:off x="1143000" y="914400"/>
            <a:ext cx="21031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Geofabrik — OSM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Castilla-La Mancha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2194560" y="1316736"/>
            <a:ext cx="914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/>
          <p:nvPr/>
        </p:nvSpPr>
        <p:spPr>
          <a:xfrm>
            <a:off x="1691640" y="1298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osrm-extract ×3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1143000" y="1554480"/>
            <a:ext cx="210312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9"/>
          <p:cNvSpPr/>
          <p:nvPr/>
        </p:nvSpPr>
        <p:spPr>
          <a:xfrm>
            <a:off x="1417320" y="1554480"/>
            <a:ext cx="182880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OSRM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/ bike / foot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720" y="1691640"/>
            <a:ext cx="219456" cy="219456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22264" y="502920"/>
            <a:ext cx="347472" cy="34747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029200" y="91440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1"/>
          <p:cNvSpPr/>
          <p:nvPr/>
        </p:nvSpPr>
        <p:spPr>
          <a:xfrm>
            <a:off x="5029200" y="914400"/>
            <a:ext cx="21031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— GTFS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Toledo urbano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5486400" y="1316736"/>
            <a:ext cx="182880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none"/>
          </a:ln>
        </p:spPr>
        <p:txBody>
          <a:bodyPr/>
          <a:lstStyle/>
          <a:p>
            <a:endParaRPr lang="es-ES"/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8177AFD4-0C40-4335-7A1B-3D7DA5D5197E}"/>
              </a:ext>
            </a:extLst>
          </p:cNvPr>
          <p:cNvGrpSpPr/>
          <p:nvPr/>
        </p:nvGrpSpPr>
        <p:grpSpPr>
          <a:xfrm>
            <a:off x="4471416" y="1536192"/>
            <a:ext cx="1600200" cy="493776"/>
            <a:chOff x="4471416" y="1536192"/>
            <a:chExt cx="1600200" cy="493776"/>
          </a:xfrm>
        </p:grpSpPr>
        <p:sp>
          <p:nvSpPr>
            <p:cNvPr id="20" name="Shape 13"/>
            <p:cNvSpPr/>
            <p:nvPr/>
          </p:nvSpPr>
          <p:spPr>
            <a:xfrm>
              <a:off x="4471416" y="1536192"/>
              <a:ext cx="160020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4745736" y="1536192"/>
              <a:ext cx="132588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 GTFS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750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stops · routes · trips</a:t>
              </a:r>
              <a:endParaRPr lang="en-US" sz="850" dirty="0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17136" y="1673352"/>
              <a:ext cx="219456" cy="219456"/>
            </a:xfrm>
            <a:prstGeom prst="rect">
              <a:avLst/>
            </a:prstGeom>
          </p:spPr>
        </p:pic>
      </p:grpSp>
      <p:sp>
        <p:nvSpPr>
          <p:cNvPr id="23" name="Shape 15"/>
          <p:cNvSpPr/>
          <p:nvPr/>
        </p:nvSpPr>
        <p:spPr>
          <a:xfrm>
            <a:off x="6400800" y="1316736"/>
            <a:ext cx="274320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6"/>
          <p:cNvSpPr/>
          <p:nvPr/>
        </p:nvSpPr>
        <p:spPr>
          <a:xfrm>
            <a:off x="6035040" y="1298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700" dirty="0"/>
          </a:p>
        </p:txBody>
      </p:sp>
      <p:sp>
        <p:nvSpPr>
          <p:cNvPr id="25" name="Shape 17"/>
          <p:cNvSpPr/>
          <p:nvPr/>
        </p:nvSpPr>
        <p:spPr>
          <a:xfrm>
            <a:off x="6336792" y="1554480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18"/>
          <p:cNvSpPr/>
          <p:nvPr/>
        </p:nvSpPr>
        <p:spPr>
          <a:xfrm>
            <a:off x="6611112" y="1554480"/>
            <a:ext cx="7772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graph.obj</a:t>
            </a:r>
            <a:endParaRPr lang="en-US" sz="8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2512" y="1691640"/>
            <a:ext cx="219456" cy="219456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21240" y="502920"/>
            <a:ext cx="347472" cy="34747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034272" y="914400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0"/>
          <p:cNvSpPr/>
          <p:nvPr/>
        </p:nvSpPr>
        <p:spPr>
          <a:xfrm>
            <a:off x="9034272" y="914400"/>
            <a:ext cx="21488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LPMC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Hillel et al. 2018 · Londres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10104120" y="1316736"/>
            <a:ext cx="914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2"/>
          <p:cNvSpPr/>
          <p:nvPr/>
        </p:nvSpPr>
        <p:spPr>
          <a:xfrm>
            <a:off x="9601200" y="1298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700" dirty="0"/>
          </a:p>
        </p:txBody>
      </p:sp>
      <p:sp>
        <p:nvSpPr>
          <p:cNvPr id="33" name="Shape 23"/>
          <p:cNvSpPr/>
          <p:nvPr/>
        </p:nvSpPr>
        <p:spPr>
          <a:xfrm>
            <a:off x="9034272" y="1554480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24"/>
          <p:cNvSpPr/>
          <p:nvPr/>
        </p:nvSpPr>
        <p:spPr>
          <a:xfrm>
            <a:off x="9308592" y="1554480"/>
            <a:ext cx="187452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LPMC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RF · DNN</a:t>
            </a:r>
            <a:endParaRPr lang="en-US" sz="8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79992" y="1691640"/>
            <a:ext cx="219456" cy="219456"/>
          </a:xfrm>
          <a:prstGeom prst="rect">
            <a:avLst/>
          </a:prstGeom>
        </p:spPr>
      </p:pic>
      <p:pic>
        <p:nvPicPr>
          <p:cNvPr id="1086" name="Gráfico 1085">
            <a:extLst>
              <a:ext uri="{FF2B5EF4-FFF2-40B4-BE49-F238E27FC236}">
                <a16:creationId xmlns:a16="http://schemas.microsoft.com/office/drawing/2014/main" id="{43BCDB53-6F16-9CF1-A4AC-2C6285D25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92231" y="478439"/>
            <a:ext cx="1415001" cy="371412"/>
          </a:xfrm>
          <a:prstGeom prst="rect">
            <a:avLst/>
          </a:prstGeom>
        </p:spPr>
      </p:pic>
      <p:pic>
        <p:nvPicPr>
          <p:cNvPr id="1088" name="Imagen 1087">
            <a:extLst>
              <a:ext uri="{FF2B5EF4-FFF2-40B4-BE49-F238E27FC236}">
                <a16:creationId xmlns:a16="http://schemas.microsoft.com/office/drawing/2014/main" id="{545FE5C8-DED3-368A-F913-B43E9E0424C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392" y="543775"/>
            <a:ext cx="1618488" cy="265762"/>
          </a:xfrm>
          <a:prstGeom prst="rect">
            <a:avLst/>
          </a:prstGeom>
        </p:spPr>
      </p:pic>
      <p:pic>
        <p:nvPicPr>
          <p:cNvPr id="1090" name="Gráfico 1089">
            <a:extLst>
              <a:ext uri="{FF2B5EF4-FFF2-40B4-BE49-F238E27FC236}">
                <a16:creationId xmlns:a16="http://schemas.microsoft.com/office/drawing/2014/main" id="{4B351DB1-30AA-B4F7-45A5-EA2596D97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392" y="1397309"/>
            <a:ext cx="783337" cy="783337"/>
          </a:xfrm>
          <a:prstGeom prst="rect">
            <a:avLst/>
          </a:prstGeom>
        </p:spPr>
      </p:pic>
      <p:pic>
        <p:nvPicPr>
          <p:cNvPr id="1092" name="Imagen 1091">
            <a:extLst>
              <a:ext uri="{FF2B5EF4-FFF2-40B4-BE49-F238E27FC236}">
                <a16:creationId xmlns:a16="http://schemas.microsoft.com/office/drawing/2014/main" id="{9620AD95-35D9-7322-CC7F-39C888DC246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55" y="457200"/>
            <a:ext cx="852774" cy="511664"/>
          </a:xfrm>
          <a:prstGeom prst="rect">
            <a:avLst/>
          </a:prstGeom>
        </p:spPr>
      </p:pic>
      <p:pic>
        <p:nvPicPr>
          <p:cNvPr id="1094" name="Imagen 1093">
            <a:extLst>
              <a:ext uri="{FF2B5EF4-FFF2-40B4-BE49-F238E27FC236}">
                <a16:creationId xmlns:a16="http://schemas.microsoft.com/office/drawing/2014/main" id="{FE30E3CF-A6B3-1CFD-C3F2-70B58326B69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" y="502004"/>
            <a:ext cx="1631983" cy="543994"/>
          </a:xfrm>
          <a:prstGeom prst="rect">
            <a:avLst/>
          </a:prstGeom>
        </p:spPr>
      </p:pic>
      <p:pic>
        <p:nvPicPr>
          <p:cNvPr id="1097" name="Picture 6">
            <a:extLst>
              <a:ext uri="{FF2B5EF4-FFF2-40B4-BE49-F238E27FC236}">
                <a16:creationId xmlns:a16="http://schemas.microsoft.com/office/drawing/2014/main" id="{4F96EA8C-EDC7-1060-A84E-82B978DC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480" y="524980"/>
            <a:ext cx="746760" cy="70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5D611AEE-03C6-2ABB-2BBD-2F6CDB3DBD6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57984" y="4231386"/>
            <a:ext cx="1880816" cy="183982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B62257A9-803B-AE0E-A30F-ED8D4576063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28742" y="2734597"/>
            <a:ext cx="1401118" cy="136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18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54787" y="367028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7535" y="4371434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pic>
          <p:nvPicPr>
            <p:cNvPr id="1100" name="Picture 12" descr="Build a To-Do App w/ TypeScript, React, Vite | Bits and Pieces">
              <a:extLst>
                <a:ext uri="{FF2B5EF4-FFF2-40B4-BE49-F238E27FC236}">
                  <a16:creationId xmlns:a16="http://schemas.microsoft.com/office/drawing/2014/main" id="{9EA67048-99D7-3887-85C5-6BF21CEFB8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26" t="23405" r="10533" b="25040"/>
            <a:stretch>
              <a:fillRect/>
            </a:stretch>
          </p:blipFill>
          <p:spPr bwMode="auto">
            <a:xfrm>
              <a:off x="1231811" y="2119816"/>
              <a:ext cx="1227049" cy="454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720596" y="1330880"/>
              <a:ext cx="291084" cy="171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sp>
            <p:nvSpPr>
              <p:cNvPr id="1105" name="Text 35">
                <a:extLst>
                  <a:ext uri="{FF2B5EF4-FFF2-40B4-BE49-F238E27FC236}">
                    <a16:creationId xmlns:a16="http://schemas.microsoft.com/office/drawing/2014/main" id="{31A14D28-3B15-39CD-A156-F064FFB7524F}"/>
                  </a:ext>
                </a:extLst>
              </p:cNvPr>
              <p:cNvSpPr/>
              <p:nvPr/>
            </p:nvSpPr>
            <p:spPr>
              <a:xfrm>
                <a:off x="4348360" y="1317727"/>
                <a:ext cx="291084" cy="171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:8000</a:t>
                </a:r>
                <a:endParaRPr lang="en-US" sz="9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/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/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/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/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324985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492007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4788" y="2271570"/>
              <a:ext cx="368300" cy="368300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281" name="Grupo 1280">
            <a:extLst>
              <a:ext uri="{FF2B5EF4-FFF2-40B4-BE49-F238E27FC236}">
                <a16:creationId xmlns:a16="http://schemas.microsoft.com/office/drawing/2014/main" id="{3FB87F6C-FD08-8E9E-C444-5D4CFCD55A75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6153150" y="5939599"/>
            <a:chExt cx="2908299" cy="593653"/>
          </a:xfrm>
        </p:grpSpPr>
        <p:sp>
          <p:nvSpPr>
            <p:cNvPr id="1280" name="Shape 62">
              <a:extLst>
                <a:ext uri="{FF2B5EF4-FFF2-40B4-BE49-F238E27FC236}">
                  <a16:creationId xmlns:a16="http://schemas.microsoft.com/office/drawing/2014/main" id="{11E37F5D-E339-607D-019C-66B567414E19}"/>
                </a:ext>
              </a:extLst>
            </p:cNvPr>
            <p:cNvSpPr/>
            <p:nvPr/>
          </p:nvSpPr>
          <p:spPr>
            <a:xfrm>
              <a:off x="6153150" y="5939599"/>
              <a:ext cx="29082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D000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55" name="Imagen 1254">
              <a:extLst>
                <a:ext uri="{FF2B5EF4-FFF2-40B4-BE49-F238E27FC236}">
                  <a16:creationId xmlns:a16="http://schemas.microsoft.com/office/drawing/2014/main" id="{BFC9576F-EF49-4F30-9C53-4928D14D8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3965" y="5991351"/>
              <a:ext cx="727535" cy="490147"/>
            </a:xfrm>
            <a:prstGeom prst="rect">
              <a:avLst/>
            </a:prstGeom>
          </p:spPr>
        </p:pic>
        <p:pic>
          <p:nvPicPr>
            <p:cNvPr id="1253" name="Imagen 1252">
              <a:extLst>
                <a:ext uri="{FF2B5EF4-FFF2-40B4-BE49-F238E27FC236}">
                  <a16:creationId xmlns:a16="http://schemas.microsoft.com/office/drawing/2014/main" id="{ADF99859-51AD-6040-DCDC-CBF03142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3092" y="5993310"/>
              <a:ext cx="585826" cy="488188"/>
            </a:xfrm>
            <a:prstGeom prst="rect">
              <a:avLst/>
            </a:prstGeom>
          </p:spPr>
        </p:pic>
        <p:pic>
          <p:nvPicPr>
            <p:cNvPr id="1257" name="Imagen 1256">
              <a:extLst>
                <a:ext uri="{FF2B5EF4-FFF2-40B4-BE49-F238E27FC236}">
                  <a16:creationId xmlns:a16="http://schemas.microsoft.com/office/drawing/2014/main" id="{3F394E8C-FB83-9418-7ABD-C471B0B99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3348" y="6032029"/>
              <a:ext cx="1400127" cy="406038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247322" y="681053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9964825" y="986205"/>
            <a:ext cx="132623" cy="838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85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85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85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81165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85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9" name="Grupo 1378">
            <a:extLst>
              <a:ext uri="{FF2B5EF4-FFF2-40B4-BE49-F238E27FC236}">
                <a16:creationId xmlns:a16="http://schemas.microsoft.com/office/drawing/2014/main" id="{028E2B42-92A6-5FB2-5BFC-7C807EDF2818}"/>
              </a:ext>
            </a:extLst>
          </p:cNvPr>
          <p:cNvGrpSpPr/>
          <p:nvPr/>
        </p:nvGrpSpPr>
        <p:grpSpPr>
          <a:xfrm>
            <a:off x="9141905" y="4596358"/>
            <a:ext cx="1279851" cy="712690"/>
            <a:chOff x="10522966" y="2644652"/>
            <a:chExt cx="1479392" cy="823805"/>
          </a:xfrm>
        </p:grpSpPr>
        <p:sp>
          <p:nvSpPr>
            <p:cNvPr id="1378" name="Shape 53">
              <a:extLst>
                <a:ext uri="{FF2B5EF4-FFF2-40B4-BE49-F238E27FC236}">
                  <a16:creationId xmlns:a16="http://schemas.microsoft.com/office/drawing/2014/main" id="{1DEB5A57-D30B-55EC-56AC-58D6F9503E6F}"/>
                </a:ext>
              </a:extLst>
            </p:cNvPr>
            <p:cNvSpPr/>
            <p:nvPr/>
          </p:nvSpPr>
          <p:spPr>
            <a:xfrm>
              <a:off x="10522966" y="2644652"/>
              <a:ext cx="1479392" cy="823805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3188C9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5D4202A0-900F-1900-FEE1-9CD119496D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546433" y="2661082"/>
              <a:ext cx="1431281" cy="356645"/>
            </a:xfrm>
            <a:prstGeom prst="rect">
              <a:avLst/>
            </a:prstGeom>
          </p:spPr>
        </p:pic>
        <p:pic>
          <p:nvPicPr>
            <p:cNvPr id="1201" name="Gráfico 1200">
              <a:extLst>
                <a:ext uri="{FF2B5EF4-FFF2-40B4-BE49-F238E27FC236}">
                  <a16:creationId xmlns:a16="http://schemas.microsoft.com/office/drawing/2014/main" id="{BFAF2C1E-5929-7EEC-5736-81002DFD5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0710617" y="2990684"/>
              <a:ext cx="1111639" cy="428923"/>
            </a:xfrm>
            <a:prstGeom prst="rect">
              <a:avLst/>
            </a:prstGeom>
          </p:spPr>
        </p:pic>
      </p:grp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85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1"/>
          </p:cNvCxnSpPr>
          <p:nvPr/>
        </p:nvCxnSpPr>
        <p:spPr>
          <a:xfrm rot="5400000" flipH="1" flipV="1">
            <a:off x="10045264" y="4168973"/>
            <a:ext cx="163952" cy="6908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718514"/>
            <a:ext cx="2764393" cy="1010815"/>
            <a:chOff x="9198930" y="5482255"/>
            <a:chExt cx="2764393" cy="1010815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482255"/>
              <a:ext cx="2593019" cy="835995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710225" y="5516397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252461" y="5516397"/>
              <a:ext cx="404234" cy="404234"/>
            </a:xfrm>
            <a:prstGeom prst="rect">
              <a:avLst/>
            </a:prstGeom>
          </p:spPr>
        </p:pic>
        <p:pic>
          <p:nvPicPr>
            <p:cNvPr id="1241" name="Imagen 1240">
              <a:extLst>
                <a:ext uri="{FF2B5EF4-FFF2-40B4-BE49-F238E27FC236}">
                  <a16:creationId xmlns:a16="http://schemas.microsoft.com/office/drawing/2014/main" id="{A79FC52D-4B67-15A5-9869-109857AAF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65" b="33916"/>
            <a:stretch>
              <a:fillRect/>
            </a:stretch>
          </p:blipFill>
          <p:spPr>
            <a:xfrm>
              <a:off x="9234546" y="5947228"/>
              <a:ext cx="1094570" cy="345010"/>
            </a:xfrm>
            <a:prstGeom prst="rect">
              <a:avLst/>
            </a:prstGeom>
          </p:spPr>
        </p:pic>
        <p:pic>
          <p:nvPicPr>
            <p:cNvPr id="1243" name="Imagen 1242">
              <a:extLst>
                <a:ext uri="{FF2B5EF4-FFF2-40B4-BE49-F238E27FC236}">
                  <a16:creationId xmlns:a16="http://schemas.microsoft.com/office/drawing/2014/main" id="{374777CF-1DD9-98AB-75BD-DD6CAF006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5146" y="5907465"/>
              <a:ext cx="1004054" cy="434880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35009"/>
            <a:ext cx="99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800" dirty="0"/>
          </a:p>
        </p:txBody>
      </p:sp>
      <p:sp>
        <p:nvSpPr>
          <p:cNvPr id="1461" name="CuadroTexto 1460">
            <a:extLst>
              <a:ext uri="{FF2B5EF4-FFF2-40B4-BE49-F238E27FC236}">
                <a16:creationId xmlns:a16="http://schemas.microsoft.com/office/drawing/2014/main" id="{2CCEE261-BC6C-5210-9D61-B35EC417FC31}"/>
              </a:ext>
            </a:extLst>
          </p:cNvPr>
          <p:cNvSpPr txBox="1"/>
          <p:nvPr/>
        </p:nvSpPr>
        <p:spPr>
          <a:xfrm>
            <a:off x="7719434" y="4835009"/>
            <a:ext cx="99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/train</a:t>
            </a:r>
            <a:endParaRPr lang="en-US" sz="1800" dirty="0"/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36511"/>
            <a:ext cx="1135747" cy="237213"/>
          </a:xfrm>
          <a:prstGeom prst="bentConnector3">
            <a:avLst>
              <a:gd name="adj1" fmla="val 560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8" y="5746008"/>
            <a:ext cx="1544606" cy="390504"/>
          </a:xfrm>
          <a:prstGeom prst="bentConnector3">
            <a:avLst>
              <a:gd name="adj1" fmla="val 416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987603"/>
          </a:xfrm>
          <a:prstGeom prst="bentConnector3">
            <a:avLst>
              <a:gd name="adj1" fmla="val 392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Props1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0D70F7-8416-46C5-896C-E4C67671FD25}">
  <ds:schemaRefs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89f1de4a-40f7-4e81-987b-401414521485"/>
    <ds:schemaRef ds:uri="http://purl.org/dc/dcmitype/"/>
    <ds:schemaRef ds:uri="http://schemas.microsoft.com/office/2006/metadata/properties"/>
    <ds:schemaRef ds:uri="da169425-153d-4080-8705-45c92938e7f0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657</Words>
  <Application>Microsoft Office PowerPoint</Application>
  <PresentationFormat>Panorámica</PresentationFormat>
  <Paragraphs>215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Courier New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2</cp:revision>
  <dcterms:created xsi:type="dcterms:W3CDTF">2026-04-21T15:15:57Z</dcterms:created>
  <dcterms:modified xsi:type="dcterms:W3CDTF">2026-04-22T00:16:15Z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