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50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827999" cy="4824000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827999" cy="306000"/>
          </a:xfrm>
          <a:prstGeom prst="rect">
            <a:avLst/>
          </a:prstGeom>
          <a:solidFill>
            <a:srgbClr val="777777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000" y="108000"/>
            <a:ext cx="1692000" cy="4824000"/>
          </a:xfrm>
          <a:prstGeom prst="rect">
            <a:avLst/>
          </a:prstGeom>
          <a:solidFill>
            <a:srgbClr val="D9E8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88000" y="108000"/>
            <a:ext cx="1692000" cy="306000"/>
          </a:xfrm>
          <a:prstGeom prst="rect">
            <a:avLst/>
          </a:prstGeom>
          <a:solidFill>
            <a:srgbClr val="2060A0"/>
          </a:solidFill>
          <a:ln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1999" y="108000"/>
            <a:ext cx="2592000" cy="4824000"/>
          </a:xfrm>
          <a:prstGeom prst="rect">
            <a:avLst/>
          </a:prstGeom>
          <a:solidFill>
            <a:srgbClr val="CEE8D8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31999" y="108000"/>
            <a:ext cx="2592000" cy="306000"/>
          </a:xfrm>
          <a:prstGeom prst="rect">
            <a:avLst/>
          </a:prstGeom>
          <a:solidFill>
            <a:srgbClr val="1E7A4A"/>
          </a:solidFill>
          <a:ln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6000" y="108000"/>
            <a:ext cx="2916000" cy="4824000"/>
          </a:xfrm>
          <a:prstGeom prst="rect">
            <a:avLst/>
          </a:prstGeom>
          <a:solidFill>
            <a:srgbClr val="FDEDD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76000" y="108000"/>
            <a:ext cx="2916000" cy="306000"/>
          </a:xfrm>
          <a:prstGeom prst="rect">
            <a:avLst/>
          </a:prstGeom>
          <a:solidFill>
            <a:srgbClr val="A86018"/>
          </a:solidFill>
          <a:ln>
            <a:solidFill>
              <a:srgbClr val="A86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SERVICIOS EXTERNOS</a:t>
            </a:r>
          </a:p>
        </p:txBody>
      </p:sp>
      <p:sp>
        <p:nvSpPr>
          <p:cNvPr id="10" name="Oval 9"/>
          <p:cNvSpPr/>
          <p:nvPr/>
        </p:nvSpPr>
        <p:spPr>
          <a:xfrm>
            <a:off x="334800" y="864000"/>
            <a:ext cx="374400" cy="374400"/>
          </a:xfrm>
          <a:prstGeom prst="ellipse">
            <a:avLst/>
          </a:prstGeom>
          <a:solidFill>
            <a:srgbClr val="777777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3200" y="1108800"/>
            <a:ext cx="417600" cy="522000"/>
          </a:xfrm>
          <a:prstGeom prst="rect">
            <a:avLst/>
          </a:prstGeom>
          <a:solidFill>
            <a:srgbClr val="777777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8000" y="1692000"/>
            <a:ext cx="827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777777"/>
                </a:solidFill>
                <a:latin typeface="Calibri"/>
              </a:rPr>
              <a:t>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1890000"/>
            <a:ext cx="755999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Navegador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4000" y="540000"/>
            <a:ext cx="1440000" cy="2088000"/>
          </a:xfrm>
          <a:prstGeom prst="rect">
            <a:avLst/>
          </a:prstGeom>
          <a:solidFill>
            <a:srgbClr val="F2F7FF"/>
          </a:solidFill>
          <a:ln w="15240"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222222"/>
                </a:solidFill>
                <a:latin typeface="Calibri"/>
              </a:rPr>
              <a:t>Navegador web</a:t>
            </a:r>
          </a:p>
          <a:p>
            <a:pPr algn="ctr"/>
            <a:r>
              <a:rPr b="0" sz="900">
                <a:solidFill>
                  <a:srgbClr val="555555"/>
                </a:solidFill>
                <a:latin typeface="Calibri"/>
              </a:rPr>
              <a:t>React + TypeScript</a:t>
            </a:r>
          </a:p>
          <a:p>
            <a:pPr algn="ctr"/>
            <a:r>
              <a:rPr b="0" sz="900">
                <a:solidFill>
                  <a:srgbClr val="555555"/>
                </a:solidFill>
                <a:latin typeface="Calibri"/>
              </a:rPr>
              <a:t>Leaflet (mapas)</a:t>
            </a:r>
          </a:p>
          <a:p>
            <a:pPr algn="ctr"/>
            <a:r>
              <a:rPr b="0" sz="850">
                <a:solidFill>
                  <a:srgbClr val="888888"/>
                </a:solidFill>
                <a:latin typeface="Calibri"/>
              </a:rPr>
              <a:t>Vite  ·  Puerto 5173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999" y="2718000"/>
            <a:ext cx="147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Mapa interactivo O/D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999" y="2916000"/>
            <a:ext cx="147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Sliders de política modal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999" y="3114000"/>
            <a:ext cx="147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Panel de resultados what-if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999" y="3311999"/>
            <a:ext cx="147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Reparto modal · Tiempo · CO₂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0000" y="468000"/>
            <a:ext cx="486000" cy="162000"/>
          </a:xfrm>
          <a:prstGeom prst="rect">
            <a:avLst/>
          </a:prstGeom>
          <a:solidFill>
            <a:srgbClr val="2060A0"/>
          </a:solidFill>
          <a:ln>
            <a:solidFill>
              <a:srgbClr val="2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  <a:latin typeface="Calibri"/>
              </a:rPr>
              <a:t>  :5173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0" y="540000"/>
            <a:ext cx="2376000" cy="4176000"/>
          </a:xfrm>
          <a:prstGeom prst="rect">
            <a:avLst/>
          </a:prstGeom>
          <a:solidFill>
            <a:srgbClr val="EAF5EE"/>
          </a:solidFill>
          <a:ln w="19050"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1000"/>
              </a:spcBef>
            </a:pPr>
            <a:r>
              <a:rPr b="1" sz="1300">
                <a:solidFill>
                  <a:srgbClr val="222222"/>
                </a:solidFill>
                <a:latin typeface="Calibri"/>
              </a:rPr>
              <a:t>FastAPI</a:t>
            </a:r>
          </a:p>
          <a:p>
            <a:pPr algn="ctr"/>
            <a:r>
              <a:rPr b="0" sz="900">
                <a:solidFill>
                  <a:srgbClr val="555555"/>
                </a:solidFill>
                <a:latin typeface="Calibri"/>
              </a:rPr>
              <a:t>Puerto 8000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5999" y="468000"/>
            <a:ext cx="503999" cy="162000"/>
          </a:xfrm>
          <a:prstGeom prst="rect">
            <a:avLst/>
          </a:prstGeom>
          <a:solidFill>
            <a:srgbClr val="1E7A4A"/>
          </a:solidFill>
          <a:ln>
            <a:solidFill>
              <a:srgbClr val="1E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  <a:latin typeface="Calibri"/>
              </a:rPr>
              <a:t>  :8000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47999" y="1188000"/>
            <a:ext cx="2160000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/api/osrm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Rutas viarias · 3 perfiles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7999" y="1782000"/>
            <a:ext cx="2160000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/api/otp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Itinerarios multimodales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47999" y="2376000"/>
            <a:ext cx="2160000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/api/gtfs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Red de transporte estática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47999" y="2970000"/>
            <a:ext cx="2160000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B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/api/lpmc</a:t>
            </a:r>
          </a:p>
          <a:p>
            <a:pPr algn="ctr"/>
            <a:r>
              <a:rPr b="0" sz="800">
                <a:solidFill>
                  <a:srgbClr val="555555"/>
                </a:solidFill>
                <a:latin typeface="Calibri"/>
              </a:rPr>
              <a:t>Inferencia de elección modal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7999" y="3654000"/>
            <a:ext cx="2160000" cy="576000"/>
          </a:xfrm>
          <a:prstGeom prst="rect">
            <a:avLst/>
          </a:prstGeom>
          <a:solidFill>
            <a:srgbClr val="FFF8E5"/>
          </a:solidFill>
          <a:ln w="15240">
            <a:solidFill>
              <a:srgbClr val="CC88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Modelo XGBoost</a:t>
            </a:r>
          </a:p>
          <a:p>
            <a:pPr algn="ctr"/>
            <a:r>
              <a:rPr b="0" sz="800">
                <a:solidFill>
                  <a:srgbClr val="CC8822"/>
                </a:solidFill>
                <a:latin typeface="Calibri"/>
              </a:rPr>
              <a:t>in-process · sin red</a:t>
            </a:r>
          </a:p>
          <a:p>
            <a:pPr algn="ctr"/>
            <a:r>
              <a:rPr b="0" sz="750">
                <a:solidFill>
                  <a:srgbClr val="888888"/>
                </a:solidFill>
                <a:latin typeface="Calibri"/>
              </a:rPr>
              <a:t>LPMC · 4 modos modales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7999" y="4248000"/>
            <a:ext cx="21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1">
                <a:solidFill>
                  <a:srgbClr val="CC8822"/>
                </a:solidFill>
                <a:latin typeface="Calibri"/>
              </a:rPr>
              <a:t>▲ cargado en memoria por FastAPI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4000" y="540000"/>
            <a:ext cx="2700000" cy="2015999"/>
          </a:xfrm>
          <a:prstGeom prst="rect">
            <a:avLst/>
          </a:prstGeom>
          <a:solidFill>
            <a:srgbClr val="E6F3E6"/>
          </a:solidFill>
          <a:ln w="1016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084000" y="558000"/>
            <a:ext cx="270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88BB88"/>
                </a:solidFill>
                <a:latin typeface="Calibri"/>
              </a:rPr>
              <a:t>OSRM — Motor de rutas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6000" y="720000"/>
            <a:ext cx="2556000" cy="54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222222"/>
                </a:solidFill>
                <a:latin typeface="Calibri"/>
              </a:rPr>
              <a:t>OSRM — Coche</a:t>
            </a:r>
          </a:p>
          <a:p>
            <a:pPr algn="ctr"/>
            <a:r>
              <a:rPr b="0" sz="800">
                <a:solidFill>
                  <a:srgbClr val="888888"/>
                </a:solidFill>
                <a:latin typeface="Calibri"/>
              </a:rPr>
              <a:t>:5000  ·  driving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6000" y="1350000"/>
            <a:ext cx="2556000" cy="54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222222"/>
                </a:solidFill>
                <a:latin typeface="Calibri"/>
              </a:rPr>
              <a:t>OSRM — Bicicleta</a:t>
            </a:r>
          </a:p>
          <a:p>
            <a:pPr algn="ctr"/>
            <a:r>
              <a:rPr b="0" sz="800">
                <a:solidFill>
                  <a:srgbClr val="888888"/>
                </a:solidFill>
                <a:latin typeface="Calibri"/>
              </a:rPr>
              <a:t>:5001  ·  cycling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6000" y="1980000"/>
            <a:ext cx="2556000" cy="54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88B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222222"/>
                </a:solidFill>
                <a:latin typeface="Calibri"/>
              </a:rPr>
              <a:t>OSRM — A pie</a:t>
            </a:r>
          </a:p>
          <a:p>
            <a:pPr algn="ctr"/>
            <a:r>
              <a:rPr b="0" sz="800">
                <a:solidFill>
                  <a:srgbClr val="888888"/>
                </a:solidFill>
                <a:latin typeface="Calibri"/>
              </a:rPr>
              <a:t>:5002  ·  walking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4000" y="2646000"/>
            <a:ext cx="2700000" cy="756000"/>
          </a:xfrm>
          <a:prstGeom prst="rect">
            <a:avLst/>
          </a:prstGeom>
          <a:solidFill>
            <a:srgbClr val="F0F4FF"/>
          </a:solidFill>
          <a:ln w="15240">
            <a:solidFill>
              <a:srgbClr val="88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222222"/>
                </a:solidFill>
                <a:latin typeface="Calibri"/>
              </a:rPr>
              <a:t>OpenTripPlanner 2.x</a:t>
            </a:r>
          </a:p>
          <a:p>
            <a:pPr algn="ctr"/>
            <a:r>
              <a:rPr b="0" sz="850">
                <a:solidFill>
                  <a:srgbClr val="555555"/>
                </a:solidFill>
                <a:latin typeface="Calibri"/>
              </a:rPr>
              <a:t>:8080  ·  GTFS Toledo</a:t>
            </a:r>
          </a:p>
          <a:p>
            <a:pPr algn="ctr"/>
            <a:r>
              <a:rPr b="0" sz="800">
                <a:solidFill>
                  <a:srgbClr val="888888"/>
                </a:solidFill>
                <a:latin typeface="Calibri"/>
              </a:rPr>
              <a:t>Transporte público + OSM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5999" y="1584000"/>
            <a:ext cx="252001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5999" y="1447200"/>
            <a:ext cx="252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accede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80000" y="2538000"/>
            <a:ext cx="251999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74000" y="2379600"/>
            <a:ext cx="864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2060A0"/>
                </a:solidFill>
                <a:latin typeface="Calibri"/>
              </a:rPr>
              <a:t>HTTP/REST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723999" y="990000"/>
            <a:ext cx="432001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23999" y="1620000"/>
            <a:ext cx="432001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723999" y="2250000"/>
            <a:ext cx="432001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59999" y="792000"/>
            <a:ext cx="378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723999" y="3024000"/>
            <a:ext cx="432001" cy="0"/>
          </a:xfrm>
          <a:prstGeom prst="line">
            <a:avLst/>
          </a:prstGeom>
          <a:ln w="19050">
            <a:solidFill>
              <a:srgbClr val="44444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759999" y="2872800"/>
            <a:ext cx="378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  <a:latin typeface="Calibri"/>
              </a:rPr>
              <a:t>HTTP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