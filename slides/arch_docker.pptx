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000000" cy="504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44000"/>
            <a:ext cx="8784000" cy="4752000"/>
          </a:xfrm>
          <a:prstGeom prst="rect">
            <a:avLst/>
          </a:prstGeom>
          <a:solidFill>
            <a:srgbClr val="FBFBFB"/>
          </a:solidFill>
          <a:ln w="2286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8000" y="180000"/>
            <a:ext cx="252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docker-compose.yml</a:t>
            </a:r>
          </a:p>
        </p:txBody>
      </p:sp>
      <p:sp>
        <p:nvSpPr>
          <p:cNvPr id="4" name="Rectangle 3"/>
          <p:cNvSpPr/>
          <p:nvPr/>
        </p:nvSpPr>
        <p:spPr>
          <a:xfrm>
            <a:off x="5220000" y="324000"/>
            <a:ext cx="3384000" cy="2700000"/>
          </a:xfrm>
          <a:prstGeom prst="rect">
            <a:avLst/>
          </a:prstGeom>
          <a:solidFill>
            <a:srgbClr val="E4F2E4"/>
          </a:solidFill>
          <a:ln w="12700">
            <a:solidFill>
              <a:srgbClr val="88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220000" y="352800"/>
            <a:ext cx="3384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88BB88"/>
                </a:solidFill>
                <a:latin typeface="Calibri"/>
              </a:rPr>
              <a:t>OSRM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872000"/>
            <a:ext cx="1620000" cy="93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00000"/>
                </a:solidFill>
                <a:latin typeface="Calibri"/>
              </a:rPr>
              <a:t>frontend</a:t>
            </a:r>
          </a:p>
          <a:p>
            <a:pPr algn="ctr"/>
            <a:r>
              <a:rPr b="0" sz="900">
                <a:solidFill>
                  <a:srgbClr val="3366AA"/>
                </a:solidFill>
                <a:latin typeface="Calibri"/>
              </a:rPr>
              <a:t>:5173</a:t>
            </a:r>
          </a:p>
          <a:p>
            <a:pPr algn="ctr"/>
            <a:r>
              <a:rPr b="0" sz="800">
                <a:solidFill>
                  <a:srgbClr val="777777"/>
                </a:solidFill>
                <a:latin typeface="Calibri"/>
              </a:rPr>
              <a:t>node +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00000" y="1728000"/>
            <a:ext cx="1800000" cy="1152000"/>
          </a:xfrm>
          <a:prstGeom prst="rect">
            <a:avLst/>
          </a:prstGeom>
          <a:solidFill>
            <a:srgbClr val="F0F0F0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00000"/>
                </a:solidFill>
                <a:latin typeface="Calibri"/>
              </a:rPr>
              <a:t>backend</a:t>
            </a:r>
          </a:p>
          <a:p>
            <a:pPr algn="ctr"/>
            <a:r>
              <a:rPr b="0" sz="900">
                <a:solidFill>
                  <a:srgbClr val="3366AA"/>
                </a:solidFill>
                <a:latin typeface="Calibri"/>
              </a:rPr>
              <a:t>:8000</a:t>
            </a:r>
          </a:p>
          <a:p>
            <a:pPr algn="ctr"/>
            <a:r>
              <a:rPr b="0" sz="800">
                <a:solidFill>
                  <a:srgbClr val="777777"/>
                </a:solidFill>
                <a:latin typeface="Calibri"/>
              </a:rPr>
              <a:t>python + fastapi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898000"/>
            <a:ext cx="180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1">
                <a:solidFill>
                  <a:srgbClr val="888888"/>
                </a:solidFill>
                <a:latin typeface="Calibri"/>
              </a:rPr>
              <a:t>📂 backend/data/gtfs/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0" y="432000"/>
            <a:ext cx="3168000" cy="684000"/>
          </a:xfrm>
          <a:prstGeom prst="rect">
            <a:avLst/>
          </a:prstGeom>
          <a:solidFill>
            <a:srgbClr val="F0F0F0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00000"/>
                </a:solidFill>
                <a:latin typeface="Calibri"/>
              </a:rPr>
              <a:t>osrm-car</a:t>
            </a:r>
          </a:p>
          <a:p>
            <a:pPr algn="ctr"/>
            <a:r>
              <a:rPr b="0" sz="900">
                <a:solidFill>
                  <a:srgbClr val="3366AA"/>
                </a:solidFill>
                <a:latin typeface="Calibri"/>
              </a:rPr>
              <a:t>:5000</a:t>
            </a:r>
          </a:p>
          <a:p>
            <a:pPr algn="ctr"/>
            <a:r>
              <a:rPr b="0" sz="800">
                <a:solidFill>
                  <a:srgbClr val="777777"/>
                </a:solidFill>
                <a:latin typeface="Calibri"/>
              </a:rPr>
              <a:t>osrm/osrm-backend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8000" y="1115999"/>
            <a:ext cx="3168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1">
                <a:solidFill>
                  <a:srgbClr val="888888"/>
                </a:solidFill>
                <a:latin typeface="Calibri"/>
              </a:rPr>
              <a:t>📂 osrm-clm/car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28000" y="1259999"/>
            <a:ext cx="3168000" cy="684000"/>
          </a:xfrm>
          <a:prstGeom prst="rect">
            <a:avLst/>
          </a:prstGeom>
          <a:solidFill>
            <a:srgbClr val="F0F0F0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00000"/>
                </a:solidFill>
                <a:latin typeface="Calibri"/>
              </a:rPr>
              <a:t>osrm-bike</a:t>
            </a:r>
          </a:p>
          <a:p>
            <a:pPr algn="ctr"/>
            <a:r>
              <a:rPr b="0" sz="900">
                <a:solidFill>
                  <a:srgbClr val="3366AA"/>
                </a:solidFill>
                <a:latin typeface="Calibri"/>
              </a:rPr>
              <a:t>:5001</a:t>
            </a:r>
          </a:p>
          <a:p>
            <a:pPr algn="ctr"/>
            <a:r>
              <a:rPr b="0" sz="800">
                <a:solidFill>
                  <a:srgbClr val="777777"/>
                </a:solidFill>
                <a:latin typeface="Calibri"/>
              </a:rPr>
              <a:t>osrm/osrm-backend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8000" y="1943999"/>
            <a:ext cx="3168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1">
                <a:solidFill>
                  <a:srgbClr val="888888"/>
                </a:solidFill>
                <a:latin typeface="Calibri"/>
              </a:rPr>
              <a:t>📂 osrm-clm/bike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28000" y="2088000"/>
            <a:ext cx="3168000" cy="684000"/>
          </a:xfrm>
          <a:prstGeom prst="rect">
            <a:avLst/>
          </a:prstGeom>
          <a:solidFill>
            <a:srgbClr val="F0F0F0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00000"/>
                </a:solidFill>
                <a:latin typeface="Calibri"/>
              </a:rPr>
              <a:t>osrm-foot</a:t>
            </a:r>
          </a:p>
          <a:p>
            <a:pPr algn="ctr"/>
            <a:r>
              <a:rPr b="0" sz="900">
                <a:solidFill>
                  <a:srgbClr val="3366AA"/>
                </a:solidFill>
                <a:latin typeface="Calibri"/>
              </a:rPr>
              <a:t>:5002</a:t>
            </a:r>
          </a:p>
          <a:p>
            <a:pPr algn="ctr"/>
            <a:r>
              <a:rPr b="0" sz="800">
                <a:solidFill>
                  <a:srgbClr val="777777"/>
                </a:solidFill>
                <a:latin typeface="Calibri"/>
              </a:rPr>
              <a:t>osrm/osrm-backend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8000" y="2771999"/>
            <a:ext cx="3168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1">
                <a:solidFill>
                  <a:srgbClr val="888888"/>
                </a:solidFill>
                <a:latin typeface="Calibri"/>
              </a:rPr>
              <a:t>📂 osrm-clm/foot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20000" y="3240000"/>
            <a:ext cx="3384000" cy="900000"/>
          </a:xfrm>
          <a:prstGeom prst="rect">
            <a:avLst/>
          </a:prstGeom>
          <a:solidFill>
            <a:srgbClr val="F0F0F0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00000"/>
                </a:solidFill>
                <a:latin typeface="Calibri"/>
              </a:rPr>
              <a:t>otp</a:t>
            </a:r>
          </a:p>
          <a:p>
            <a:pPr algn="ctr"/>
            <a:r>
              <a:rPr b="0" sz="900">
                <a:solidFill>
                  <a:srgbClr val="3366AA"/>
                </a:solidFill>
                <a:latin typeface="Calibri"/>
              </a:rPr>
              <a:t>:8080</a:t>
            </a:r>
          </a:p>
          <a:p>
            <a:pPr algn="ctr"/>
            <a:r>
              <a:rPr b="0" sz="800">
                <a:solidFill>
                  <a:srgbClr val="777777"/>
                </a:solidFill>
                <a:latin typeface="Calibri"/>
              </a:rPr>
              <a:t>opentripplanner/opentripplanner:2.5.0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0000" y="4158000"/>
            <a:ext cx="3384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1">
                <a:solidFill>
                  <a:srgbClr val="888888"/>
                </a:solidFill>
                <a:latin typeface="Calibri"/>
              </a:rPr>
              <a:t>📂 otp-toledo/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80000" y="2340000"/>
            <a:ext cx="720000" cy="0"/>
          </a:xfrm>
          <a:prstGeom prst="line">
            <a:avLst/>
          </a:prstGeom>
          <a:ln w="1905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80000" y="2196000"/>
            <a:ext cx="72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777777"/>
                </a:solidFill>
                <a:latin typeface="Calibri"/>
              </a:rPr>
              <a:t>HTTP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4500000" y="774000"/>
            <a:ext cx="828000" cy="1314000"/>
          </a:xfrm>
          <a:prstGeom prst="line">
            <a:avLst/>
          </a:prstGeom>
          <a:ln w="1905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500000" y="1601999"/>
            <a:ext cx="828000" cy="702001"/>
          </a:xfrm>
          <a:prstGeom prst="line">
            <a:avLst/>
          </a:prstGeom>
          <a:ln w="1905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500000" y="2430000"/>
            <a:ext cx="828000" cy="90000"/>
          </a:xfrm>
          <a:prstGeom prst="line">
            <a:avLst/>
          </a:prstGeom>
          <a:ln w="1905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36000" y="1872000"/>
            <a:ext cx="756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777777"/>
                </a:solidFill>
                <a:latin typeface="Calibri"/>
              </a:rPr>
              <a:t>HTTP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00000" y="2664000"/>
            <a:ext cx="720000" cy="1026000"/>
          </a:xfrm>
          <a:prstGeom prst="line">
            <a:avLst/>
          </a:prstGeom>
          <a:ln w="1905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36000" y="3122999"/>
            <a:ext cx="648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777777"/>
                </a:solidFill>
                <a:latin typeface="Calibri"/>
              </a:rPr>
              <a:t>HTTP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