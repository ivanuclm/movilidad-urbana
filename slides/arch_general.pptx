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504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" y="54000"/>
            <a:ext cx="1368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777777"/>
                </a:solidFill>
                <a:latin typeface="Calibri"/>
              </a:rPr>
              <a:t>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2000" y="54000"/>
            <a:ext cx="2592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777777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40000" y="54000"/>
            <a:ext cx="3816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777777"/>
                </a:solidFill>
                <a:latin typeface="Calibri"/>
              </a:rPr>
              <a:t>SERVICIOS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000" y="1980000"/>
            <a:ext cx="1368000" cy="900000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00000"/>
                </a:solidFill>
                <a:latin typeface="Calibri"/>
              </a:rPr>
              <a:t>Navegador web</a:t>
            </a:r>
          </a:p>
          <a:p>
            <a:pPr algn="ctr"/>
            <a:r>
              <a:rPr b="0" sz="900">
                <a:solidFill>
                  <a:srgbClr val="000000"/>
                </a:solidFill>
                <a:latin typeface="Calibri"/>
              </a:rPr>
              <a:t>React + Leaflet + TypeScript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2000" y="288000"/>
            <a:ext cx="2592000" cy="4464000"/>
          </a:xfrm>
          <a:prstGeom prst="rect">
            <a:avLst/>
          </a:prstGeom>
          <a:solidFill>
            <a:srgbClr val="E0E8F0"/>
          </a:solidFill>
          <a:ln w="2286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Bef>
                <a:spcPts val="800"/>
              </a:spcBef>
            </a:pPr>
            <a:r>
              <a:rPr b="1" sz="1300">
                <a:solidFill>
                  <a:srgbClr val="000000"/>
                </a:solidFill>
                <a:latin typeface="Calibri"/>
              </a:rPr>
              <a:t>FastAPI</a:t>
            </a:r>
          </a:p>
          <a:p>
            <a:pPr algn="ctr"/>
            <a:r>
              <a:rPr b="0" sz="900">
                <a:solidFill>
                  <a:srgbClr val="000000"/>
                </a:solidFill>
                <a:latin typeface="Calibri"/>
              </a:rPr>
              <a:t>Puerto 8000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034000" y="900000"/>
            <a:ext cx="2268000" cy="558000"/>
          </a:xfrm>
          <a:prstGeom prst="rect">
            <a:avLst/>
          </a:prstGeom>
          <a:solidFill>
            <a:srgbClr val="D8EAF8"/>
          </a:solidFill>
          <a:ln w="12700">
            <a:solidFill>
              <a:srgbClr val="77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1000">
                <a:solidFill>
                  <a:srgbClr val="000000"/>
                </a:solidFill>
                <a:latin typeface="Calibri"/>
              </a:rPr>
              <a:t>/api/osrm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4000" y="1728000"/>
            <a:ext cx="2268000" cy="558000"/>
          </a:xfrm>
          <a:prstGeom prst="rect">
            <a:avLst/>
          </a:prstGeom>
          <a:solidFill>
            <a:srgbClr val="D8EAF8"/>
          </a:solidFill>
          <a:ln w="12700">
            <a:solidFill>
              <a:srgbClr val="77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1000">
                <a:solidFill>
                  <a:srgbClr val="000000"/>
                </a:solidFill>
                <a:latin typeface="Calibri"/>
              </a:rPr>
              <a:t>/api/otp</a:t>
            </a:r>
          </a:p>
        </p:txBody>
      </p:sp>
      <p:sp>
        <p:nvSpPr>
          <p:cNvPr id="9" name="Rectangle 8"/>
          <p:cNvSpPr/>
          <p:nvPr/>
        </p:nvSpPr>
        <p:spPr>
          <a:xfrm>
            <a:off x="2034000" y="2556000"/>
            <a:ext cx="2268000" cy="558000"/>
          </a:xfrm>
          <a:prstGeom prst="rect">
            <a:avLst/>
          </a:prstGeom>
          <a:solidFill>
            <a:srgbClr val="D8EAF8"/>
          </a:solidFill>
          <a:ln w="12700">
            <a:solidFill>
              <a:srgbClr val="77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1000">
                <a:solidFill>
                  <a:srgbClr val="000000"/>
                </a:solidFill>
                <a:latin typeface="Calibri"/>
              </a:rPr>
              <a:t>/api/gtfs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34000" y="3383999"/>
            <a:ext cx="2268000" cy="558000"/>
          </a:xfrm>
          <a:prstGeom prst="rect">
            <a:avLst/>
          </a:prstGeom>
          <a:solidFill>
            <a:srgbClr val="D8EAF8"/>
          </a:solidFill>
          <a:ln w="12700">
            <a:solidFill>
              <a:srgbClr val="77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1000">
                <a:solidFill>
                  <a:srgbClr val="000000"/>
                </a:solidFill>
                <a:latin typeface="Calibri"/>
              </a:rPr>
              <a:t>/api/lpmc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0000" y="288000"/>
            <a:ext cx="3816000" cy="702000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00000"/>
                </a:solidFill>
                <a:latin typeface="Calibri"/>
              </a:rPr>
              <a:t>OSRM — Coche</a:t>
            </a:r>
          </a:p>
          <a:p>
            <a:pPr algn="ctr"/>
            <a:r>
              <a:rPr b="0" sz="900">
                <a:solidFill>
                  <a:srgbClr val="000000"/>
                </a:solidFill>
                <a:latin typeface="Calibri"/>
              </a:rPr>
              <a:t>Puerto 5000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0000" y="1188000"/>
            <a:ext cx="3816000" cy="702000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00000"/>
                </a:solidFill>
                <a:latin typeface="Calibri"/>
              </a:rPr>
              <a:t>OSRM — Bici</a:t>
            </a:r>
          </a:p>
          <a:p>
            <a:pPr algn="ctr"/>
            <a:r>
              <a:rPr b="0" sz="900">
                <a:solidFill>
                  <a:srgbClr val="000000"/>
                </a:solidFill>
                <a:latin typeface="Calibri"/>
              </a:rPr>
              <a:t>Puerto 5001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0000" y="2088000"/>
            <a:ext cx="3816000" cy="702000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00000"/>
                </a:solidFill>
                <a:latin typeface="Calibri"/>
              </a:rPr>
              <a:t>OSRM — A pie</a:t>
            </a:r>
          </a:p>
          <a:p>
            <a:pPr algn="ctr"/>
            <a:r>
              <a:rPr b="0" sz="900">
                <a:solidFill>
                  <a:srgbClr val="000000"/>
                </a:solidFill>
                <a:latin typeface="Calibri"/>
              </a:rPr>
              <a:t>Puerto 5002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0000" y="2988000"/>
            <a:ext cx="3816000" cy="702000"/>
          </a:xfrm>
          <a:prstGeom prst="rect">
            <a:avLst/>
          </a:prstGeom>
          <a:solidFill>
            <a:srgbClr val="F0F0F0"/>
          </a:solidFill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00000"/>
                </a:solidFill>
                <a:latin typeface="Calibri"/>
              </a:rPr>
              <a:t>OpenTripPlanner 2.x</a:t>
            </a:r>
          </a:p>
          <a:p>
            <a:pPr algn="ctr"/>
            <a:r>
              <a:rPr b="0" sz="900">
                <a:solidFill>
                  <a:srgbClr val="000000"/>
                </a:solidFill>
                <a:latin typeface="Calibri"/>
              </a:rPr>
              <a:t>Puerto 8080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0000" y="3888000"/>
            <a:ext cx="3816000" cy="702000"/>
          </a:xfrm>
          <a:prstGeom prst="rect">
            <a:avLst/>
          </a:prstGeom>
          <a:solidFill>
            <a:srgbClr val="FFF8E8"/>
          </a:solidFill>
          <a:ln w="19050">
            <a:solidFill>
              <a:srgbClr val="5555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00000"/>
                </a:solidFill>
                <a:latin typeface="Calibri"/>
              </a:rPr>
              <a:t>Modelo XGBoost</a:t>
            </a:r>
          </a:p>
          <a:p>
            <a:pPr algn="ctr"/>
            <a:r>
              <a:rPr b="0" sz="900">
                <a:solidFill>
                  <a:srgbClr val="000000"/>
                </a:solidFill>
                <a:latin typeface="Calibri"/>
              </a:rPr>
              <a:t>in-process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12000" y="2430000"/>
            <a:ext cx="360000" cy="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24000" y="2242800"/>
            <a:ext cx="936000" cy="15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0">
                <a:solidFill>
                  <a:srgbClr val="777777"/>
                </a:solidFill>
                <a:latin typeface="Calibri"/>
              </a:rPr>
              <a:t>HTTP/REST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64000" y="639000"/>
            <a:ext cx="576000" cy="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56000" y="487800"/>
            <a:ext cx="792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77777"/>
                </a:solidFill>
                <a:latin typeface="Calibri"/>
              </a:rPr>
              <a:t>HTTP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64000" y="1538999"/>
            <a:ext cx="576000" cy="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64000" y="2439000"/>
            <a:ext cx="576000" cy="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64000" y="3339000"/>
            <a:ext cx="576000" cy="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64000" y="4239000"/>
            <a:ext cx="576000" cy="0"/>
          </a:xfrm>
          <a:prstGeom prst="line">
            <a:avLst/>
          </a:prstGeom>
          <a:ln w="1905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56000" y="4087800"/>
            <a:ext cx="792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1">
                <a:solidFill>
                  <a:srgbClr val="885522"/>
                </a:solidFill>
                <a:latin typeface="Calibri"/>
              </a:rPr>
              <a:t>in-process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