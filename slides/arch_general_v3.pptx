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50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2088000" cy="4824000"/>
          </a:xfrm>
          <a:prstGeom prst="rect">
            <a:avLst/>
          </a:prstGeom>
          <a:solidFill>
            <a:srgbClr val="D9E8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2088000" cy="306000"/>
          </a:xfrm>
          <a:prstGeom prst="rect">
            <a:avLst/>
          </a:prstGeom>
          <a:solidFill>
            <a:srgbClr val="2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2448000" y="108000"/>
            <a:ext cx="3060000" cy="4824000"/>
          </a:xfrm>
          <a:prstGeom prst="rect">
            <a:avLst/>
          </a:prstGeom>
          <a:solidFill>
            <a:srgbClr val="CEE8D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448000" y="108000"/>
            <a:ext cx="3060000" cy="306000"/>
          </a:xfrm>
          <a:prstGeom prst="rect">
            <a:avLst/>
          </a:prstGeom>
          <a:solidFill>
            <a:srgbClr val="1E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0" y="108000"/>
            <a:ext cx="3131999" cy="4824000"/>
          </a:xfrm>
          <a:prstGeom prst="rect">
            <a:avLst/>
          </a:prstGeom>
          <a:solidFill>
            <a:srgbClr val="FDEDD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760000" y="108000"/>
            <a:ext cx="3131999" cy="306000"/>
          </a:xfrm>
          <a:prstGeom prst="rect">
            <a:avLst/>
          </a:prstGeom>
          <a:solidFill>
            <a:srgbClr val="A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SERVICIOS EXTERNOS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503999"/>
            <a:ext cx="1872000" cy="1800000"/>
          </a:xfrm>
          <a:prstGeom prst="rect">
            <a:avLst/>
          </a:prstGeom>
          <a:solidFill>
            <a:srgbClr val="EFF6FF"/>
          </a:solidFill>
          <a:ln w="15240">
            <a:solidFill>
              <a:srgbClr val="2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222222"/>
                </a:solidFill>
                <a:latin typeface="Calibri"/>
              </a:rPr>
              <a:t>Navegador web</a:t>
            </a:r>
          </a:p>
          <a:p>
            <a:pPr algn="ctr"/>
            <a:r>
              <a:rPr b="0" sz="900">
                <a:solidFill>
                  <a:srgbClr val="888888"/>
                </a:solidFill>
                <a:latin typeface="Calibri"/>
              </a:rPr>
              <a:t>Puerto 5173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00" y="1674000"/>
            <a:ext cx="223200" cy="22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800" y="1918800"/>
            <a:ext cx="432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55555"/>
                </a:solidFill>
                <a:latin typeface="Calibri"/>
              </a:rPr>
              <a:t>React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00" y="1674000"/>
            <a:ext cx="223200" cy="22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0800" y="1918800"/>
            <a:ext cx="432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55555"/>
                </a:solidFill>
                <a:latin typeface="Calibri"/>
              </a:rPr>
              <a:t>TypeScript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800" y="1674000"/>
            <a:ext cx="223200" cy="22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8800" y="1918800"/>
            <a:ext cx="432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55555"/>
                </a:solidFill>
                <a:latin typeface="Calibri"/>
              </a:rPr>
              <a:t>Leaflet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800" y="1674000"/>
            <a:ext cx="223200" cy="223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00" y="1918800"/>
            <a:ext cx="432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555555"/>
                </a:solidFill>
                <a:latin typeface="Calibri"/>
              </a:rP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999" y="2430000"/>
            <a:ext cx="1835999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• Mapa interactivo O/D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999" y="2653200"/>
            <a:ext cx="1835999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• Sliders política modal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999" y="2876400"/>
            <a:ext cx="1835999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• Simulación what-if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999" y="3099600"/>
            <a:ext cx="1835999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• Reparto · Tiempo · CO₂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56000" y="503999"/>
            <a:ext cx="2844000" cy="4320000"/>
          </a:xfrm>
          <a:prstGeom prst="rect">
            <a:avLst/>
          </a:prstGeom>
          <a:solidFill>
            <a:srgbClr val="E8F5EE"/>
          </a:solidFill>
          <a:ln w="19050">
            <a:solidFill>
              <a:srgbClr val="1E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800"/>
              </a:spcBef>
            </a:pPr>
            <a:r>
              <a:rPr b="1" sz="1300">
                <a:solidFill>
                  <a:srgbClr val="222222"/>
                </a:solidFill>
                <a:latin typeface="Calibri"/>
              </a:rPr>
              <a:t>FastAPI</a:t>
            </a:r>
          </a:p>
          <a:p>
            <a:pPr algn="ctr"/>
            <a:r>
              <a:rPr b="0" sz="900">
                <a:solidFill>
                  <a:srgbClr val="555555"/>
                </a:solidFill>
                <a:latin typeface="Calibri"/>
              </a:rPr>
              <a:t>Puerto 8000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0000" y="557999"/>
            <a:ext cx="223200" cy="2232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0" y="557999"/>
            <a:ext cx="223200" cy="2232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950000" y="475199"/>
            <a:ext cx="503999" cy="151200"/>
          </a:xfrm>
          <a:prstGeom prst="rect">
            <a:avLst/>
          </a:prstGeom>
          <a:solidFill>
            <a:srgbClr val="1E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800">
                <a:solidFill>
                  <a:srgbClr val="FFFFFF"/>
                </a:solidFill>
                <a:latin typeface="Calibri"/>
              </a:rPr>
              <a:t>:8000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46000" y="1062000"/>
            <a:ext cx="2664000" cy="503999"/>
          </a:xfrm>
          <a:prstGeom prst="rect">
            <a:avLst/>
          </a:prstGeom>
          <a:solidFill>
            <a:srgbClr val="FFFFFF"/>
          </a:solidFill>
          <a:ln w="1143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/api/osrm</a:t>
            </a:r>
          </a:p>
          <a:p>
            <a:pPr algn="ctr"/>
            <a:r>
              <a:rPr b="0" sz="800">
                <a:solidFill>
                  <a:srgbClr val="555555"/>
                </a:solidFill>
                <a:latin typeface="Calibri"/>
              </a:rPr>
              <a:t>Rutas viarias · 3 perfiles (coche, bici, pie)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46000" y="1674000"/>
            <a:ext cx="2664000" cy="503999"/>
          </a:xfrm>
          <a:prstGeom prst="rect">
            <a:avLst/>
          </a:prstGeom>
          <a:solidFill>
            <a:srgbClr val="FFFFFF"/>
          </a:solidFill>
          <a:ln w="1143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/api/otp</a:t>
            </a:r>
          </a:p>
          <a:p>
            <a:pPr algn="ctr"/>
            <a:r>
              <a:rPr b="0" sz="800">
                <a:solidFill>
                  <a:srgbClr val="555555"/>
                </a:solidFill>
                <a:latin typeface="Calibri"/>
              </a:rPr>
              <a:t>Itinerarios multimodales con GTFS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46000" y="2286000"/>
            <a:ext cx="2664000" cy="503999"/>
          </a:xfrm>
          <a:prstGeom prst="rect">
            <a:avLst/>
          </a:prstGeom>
          <a:solidFill>
            <a:srgbClr val="FFFFFF"/>
          </a:solidFill>
          <a:ln w="1143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/api/gtfs</a:t>
            </a:r>
          </a:p>
          <a:p>
            <a:pPr algn="ctr"/>
            <a:r>
              <a:rPr b="0" sz="800">
                <a:solidFill>
                  <a:srgbClr val="555555"/>
                </a:solidFill>
                <a:latin typeface="Calibri"/>
              </a:rPr>
              <a:t>Red de transporte estática · paradas y líneas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46000" y="2898000"/>
            <a:ext cx="2664000" cy="503999"/>
          </a:xfrm>
          <a:prstGeom prst="rect">
            <a:avLst/>
          </a:prstGeom>
          <a:solidFill>
            <a:srgbClr val="FFFFFF"/>
          </a:solidFill>
          <a:ln w="1143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/api/lpmc</a:t>
            </a:r>
          </a:p>
          <a:p>
            <a:pPr algn="ctr"/>
            <a:r>
              <a:rPr b="0" sz="800">
                <a:solidFill>
                  <a:srgbClr val="555555"/>
                </a:solidFill>
                <a:latin typeface="Calibri"/>
              </a:rPr>
              <a:t>Inferencia de elección modal · XGBoost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46000" y="3581999"/>
            <a:ext cx="2664000" cy="594000"/>
          </a:xfrm>
          <a:prstGeom prst="rect">
            <a:avLst/>
          </a:prstGeom>
          <a:solidFill>
            <a:srgbClr val="FFF8E5"/>
          </a:solidFill>
          <a:ln w="15240">
            <a:solidFill>
              <a:srgbClr val="CC88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Modelo XGBoost</a:t>
            </a:r>
          </a:p>
          <a:p>
            <a:pPr algn="ctr"/>
            <a:r>
              <a:rPr b="0" sz="800">
                <a:solidFill>
                  <a:srgbClr val="CC8822"/>
                </a:solidFill>
                <a:latin typeface="Calibri"/>
              </a:rPr>
              <a:t>in-process · sin latencia de red</a:t>
            </a:r>
          </a:p>
          <a:p>
            <a:pPr algn="ctr"/>
            <a:r>
              <a:rPr b="0" sz="750">
                <a:solidFill>
                  <a:srgbClr val="888888"/>
                </a:solidFill>
                <a:latin typeface="Calibri"/>
              </a:rPr>
              <a:t>LPMC dataset · 4 modos modales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1999" y="3636000"/>
            <a:ext cx="223200" cy="223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646000" y="4193999"/>
            <a:ext cx="2664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1">
                <a:solidFill>
                  <a:srgbClr val="CC8822"/>
                </a:solidFill>
                <a:latin typeface="Calibri"/>
              </a:rPr>
              <a:t>▲ cargado en memoria por FastAPI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68000" y="503999"/>
            <a:ext cx="2916000" cy="2109600"/>
          </a:xfrm>
          <a:prstGeom prst="rect">
            <a:avLst/>
          </a:prstGeom>
          <a:solidFill>
            <a:srgbClr val="E2F2E2"/>
          </a:solidFill>
          <a:ln w="10160">
            <a:solidFill>
              <a:srgbClr val="70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22000" y="532800"/>
            <a:ext cx="280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0AA70"/>
                </a:solidFill>
                <a:latin typeface="Calibri"/>
              </a:rPr>
              <a:t>OSRM — Motor de rutas viarias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7200" y="691200"/>
            <a:ext cx="2757599" cy="5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70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OSRM — Coche</a:t>
            </a:r>
          </a:p>
          <a:p>
            <a:pPr algn="ctr"/>
            <a:r>
              <a:rPr b="0" sz="850">
                <a:solidFill>
                  <a:srgbClr val="555555"/>
                </a:solidFill>
                <a:latin typeface="Calibri"/>
              </a:rPr>
              <a:t>:5000  ·  driving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3200" y="756000"/>
            <a:ext cx="189720" cy="18972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947200" y="1350000"/>
            <a:ext cx="2757599" cy="5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70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OSRM — Bicicleta</a:t>
            </a:r>
          </a:p>
          <a:p>
            <a:pPr algn="ctr"/>
            <a:r>
              <a:rPr b="0" sz="850">
                <a:solidFill>
                  <a:srgbClr val="555555"/>
                </a:solidFill>
                <a:latin typeface="Calibri"/>
              </a:rPr>
              <a:t>:5001  ·  cycling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3200" y="1414800"/>
            <a:ext cx="189720" cy="18972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947200" y="2008800"/>
            <a:ext cx="2757599" cy="5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70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OSRM — A pie</a:t>
            </a:r>
          </a:p>
          <a:p>
            <a:pPr algn="ctr"/>
            <a:r>
              <a:rPr b="0" sz="850">
                <a:solidFill>
                  <a:srgbClr val="555555"/>
                </a:solidFill>
                <a:latin typeface="Calibri"/>
              </a:rPr>
              <a:t>:5002  ·  walking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3200" y="2073600"/>
            <a:ext cx="189720" cy="18972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868000" y="2811600"/>
            <a:ext cx="2916000" cy="864000"/>
          </a:xfrm>
          <a:prstGeom prst="rect">
            <a:avLst/>
          </a:prstGeom>
          <a:solidFill>
            <a:srgbClr val="FEF4E5"/>
          </a:solidFill>
          <a:ln w="15240">
            <a:solidFill>
              <a:srgbClr val="DD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222222"/>
                </a:solidFill>
                <a:latin typeface="Calibri"/>
              </a:rPr>
              <a:t>OpenTripPlanner 2.x</a:t>
            </a:r>
          </a:p>
          <a:p>
            <a:pPr algn="ctr"/>
            <a:r>
              <a:rPr b="0" sz="900">
                <a:solidFill>
                  <a:srgbClr val="555555"/>
                </a:solidFill>
                <a:latin typeface="Calibri"/>
              </a:rPr>
              <a:t>:8080</a:t>
            </a:r>
          </a:p>
          <a:p>
            <a:pPr algn="ctr"/>
            <a:r>
              <a:rPr b="0" sz="850">
                <a:solidFill>
                  <a:srgbClr val="555555"/>
                </a:solidFill>
                <a:latin typeface="Calibri"/>
              </a:rPr>
              <a:t>GTFS Toledo · OSM CLM</a:t>
            </a:r>
          </a:p>
          <a:p>
            <a:pPr algn="ctr"/>
            <a:r>
              <a:rPr b="0" sz="800">
                <a:solidFill>
                  <a:srgbClr val="888888"/>
                </a:solidFill>
                <a:latin typeface="Calibri"/>
              </a:rPr>
              <a:t>Transporte público multimodal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2000" y="2883600"/>
            <a:ext cx="223200" cy="2232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2000" y="3369600"/>
            <a:ext cx="167400" cy="167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92000" y="3394800"/>
            <a:ext cx="2627999" cy="15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  <a:latin typeface="Calibri"/>
              </a:rPr>
              <a:t>Fuente: NAP Ministerio de Transportes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196000" y="1404000"/>
            <a:ext cx="252000" cy="0"/>
          </a:xfrm>
          <a:prstGeom prst="line">
            <a:avLst/>
          </a:prstGeom>
          <a:ln w="17780">
            <a:solidFill>
              <a:srgbClr val="444444"/>
            </a:solidFill>
            <a:tailEnd type="arrow" w="med" len="med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196000" y="1252800"/>
            <a:ext cx="252000" cy="13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2060A0"/>
                </a:solidFill>
                <a:latin typeface="Calibri"/>
              </a:rPr>
              <a:t>HTTP/REST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08000" y="970200"/>
            <a:ext cx="324000" cy="0"/>
          </a:xfrm>
          <a:prstGeom prst="line">
            <a:avLst/>
          </a:prstGeom>
          <a:ln w="1778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08000" y="1629000"/>
            <a:ext cx="324000" cy="0"/>
          </a:xfrm>
          <a:prstGeom prst="line">
            <a:avLst/>
          </a:prstGeom>
          <a:ln w="1778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508000" y="2287800"/>
            <a:ext cx="324000" cy="0"/>
          </a:xfrm>
          <a:prstGeom prst="line">
            <a:avLst/>
          </a:prstGeom>
          <a:ln w="1778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526000" y="808199"/>
            <a:ext cx="287999" cy="13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Calibri"/>
              </a:rPr>
              <a:t>HTTP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508000" y="3243600"/>
            <a:ext cx="324000" cy="0"/>
          </a:xfrm>
          <a:prstGeom prst="line">
            <a:avLst/>
          </a:prstGeom>
          <a:ln w="1778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526000" y="3092400"/>
            <a:ext cx="287999" cy="13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Calibri"/>
              </a:rPr>
              <a:t>HTTP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